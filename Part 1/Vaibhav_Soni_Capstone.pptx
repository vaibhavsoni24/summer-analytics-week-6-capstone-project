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rts/chart1.xml" ContentType="application/vnd.openxmlformats-officedocument.drawingml.chart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rts/chart2.xml" ContentType="application/vnd.openxmlformats-officedocument.drawingml.chart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rts/chart3.xml" ContentType="application/vnd.openxmlformats-officedocument.drawingml.chart+xml"/>
  <Override PartName="/ppt/notesSlides/notesSlide8.xml" ContentType="application/vnd.openxmlformats-officedocument.presentationml.notesSlide+xml"/>
  <Override PartName="/ppt/charts/chart4.xml" ContentType="application/vnd.openxmlformats-officedocument.drawingml.chart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2" d="100"/>
          <a:sy n="82" d="100"/>
        </p:scale>
        <p:origin x="691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CO₂e (M kg)</c:v>
                </c:pt>
              </c:strCache>
            </c:strRef>
          </c:tx>
          <c:spPr>
            <a:solidFill>
              <a:srgbClr val="D64045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6BB0-4D72-A8F6-00C3EAF7C1DD}"/>
              </c:ext>
            </c:extLst>
          </c:dPt>
          <c:dPt>
            <c:idx val="1"/>
            <c:invertIfNegative val="0"/>
            <c:bubble3D val="0"/>
            <c:spPr>
              <a:solidFill>
                <a:srgbClr val="F5A62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6BB0-4D72-A8F6-00C3EAF7C1DD}"/>
              </c:ext>
            </c:extLst>
          </c:dPt>
          <c:dPt>
            <c:idx val="2"/>
            <c:invertIfNegative val="0"/>
            <c:bubble3D val="0"/>
            <c:spPr>
              <a:solidFill>
                <a:srgbClr val="3B82F6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6BB0-4D72-A8F6-00C3EAF7C1DD}"/>
              </c:ext>
            </c:extLst>
          </c:dPt>
          <c:dPt>
            <c:idx val="3"/>
            <c:invertIfNegative val="0"/>
            <c:bubble3D val="0"/>
            <c:spPr>
              <a:solidFill>
                <a:srgbClr val="3B82F6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6BB0-4D72-A8F6-00C3EAF7C1DD}"/>
              </c:ext>
            </c:extLst>
          </c:dPt>
          <c:dPt>
            <c:idx val="4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9-6BB0-4D72-A8F6-00C3EAF7C1DD}"/>
              </c:ext>
            </c:extLst>
          </c:dPt>
          <c:dPt>
            <c:idx val="5"/>
            <c:invertIfNegative val="0"/>
            <c:bubble3D val="0"/>
            <c:spPr>
              <a:solidFill>
                <a:srgbClr val="3B82F6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6BB0-4D72-A8F6-00C3EAF7C1DD}"/>
              </c:ext>
            </c:extLst>
          </c:dPt>
          <c:dPt>
            <c:idx val="6"/>
            <c:invertIfNegative val="0"/>
            <c:bubble3D val="0"/>
            <c:spPr>
              <a:solidFill>
                <a:srgbClr val="1A8A57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6BB0-4D72-A8F6-00C3EAF7C1DD}"/>
              </c:ext>
            </c:extLst>
          </c:dPt>
          <c:dPt>
            <c:idx val="7"/>
            <c:invertIfNegative val="0"/>
            <c:bubble3D val="0"/>
            <c:spPr>
              <a:solidFill>
                <a:srgbClr val="2EC47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F-6BB0-4D72-A8F6-00C3EAF7C1DD}"/>
              </c:ext>
            </c:extLst>
          </c:dPt>
          <c:dPt>
            <c:idx val="8"/>
            <c:invertIfNegative val="0"/>
            <c:bubble3D val="0"/>
            <c:spPr>
              <a:solidFill>
                <a:srgbClr val="2EC47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1-6BB0-4D72-A8F6-00C3EAF7C1DD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FFFFFF"/>
                    </a:solidFill>
                    <a:latin typeface="Arial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Business Class
Flight</c:v>
                </c:pt>
                <c:pt idx="1">
                  <c:v>Economy
Flight</c:v>
                </c:pt>
                <c:pt idx="2">
                  <c:v>BMW 3
Diesel</c:v>
                </c:pt>
                <c:pt idx="3">
                  <c:v>VW Golf
Diesel</c:v>
                </c:pt>
                <c:pt idx="4">
                  <c:v>First Class
Flight</c:v>
                </c:pt>
                <c:pt idx="5">
                  <c:v>VW Golf
Petrol</c:v>
                </c:pt>
                <c:pt idx="6">
                  <c:v>BMW Hybrid</c:v>
                </c:pt>
                <c:pt idx="7">
                  <c:v>Train</c:v>
                </c:pt>
                <c:pt idx="8">
                  <c:v>Fiat EV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73.099999999999994</c:v>
                </c:pt>
                <c:pt idx="1">
                  <c:v>69.7</c:v>
                </c:pt>
                <c:pt idx="2">
                  <c:v>11.1</c:v>
                </c:pt>
                <c:pt idx="3">
                  <c:v>7.2</c:v>
                </c:pt>
                <c:pt idx="4">
                  <c:v>6.5</c:v>
                </c:pt>
                <c:pt idx="5">
                  <c:v>6</c:v>
                </c:pt>
                <c:pt idx="6">
                  <c:v>1.8</c:v>
                </c:pt>
                <c:pt idx="7">
                  <c:v>1.4</c:v>
                </c:pt>
                <c:pt idx="8">
                  <c:v>1.2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2-6BB0-4D72-A8F6-00C3EAF7C1DD}"/>
            </c:ext>
          </c:extLst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25353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4A3B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CO₂e</c:v>
                </c:pt>
              </c:strCache>
            </c:strRef>
          </c:tx>
          <c:spPr>
            <a:solidFill>
              <a:srgbClr val="D64045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FD81-48DD-A47C-1CCBBEB3B80B}"/>
              </c:ext>
            </c:extLst>
          </c:dPt>
          <c:dPt>
            <c:idx val="1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3-FD81-48DD-A47C-1CCBBEB3B80B}"/>
              </c:ext>
            </c:extLst>
          </c:dPt>
          <c:dPt>
            <c:idx val="2"/>
            <c:invertIfNegative val="0"/>
            <c:bubble3D val="0"/>
            <c:spPr>
              <a:solidFill>
                <a:srgbClr val="F5A62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FD81-48DD-A47C-1CCBBEB3B80B}"/>
              </c:ext>
            </c:extLst>
          </c:dPt>
          <c:dPt>
            <c:idx val="3"/>
            <c:invertIfNegative val="0"/>
            <c:bubble3D val="0"/>
            <c:spPr>
              <a:solidFill>
                <a:srgbClr val="F5A62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FD81-48DD-A47C-1CCBBEB3B80B}"/>
              </c:ext>
            </c:extLst>
          </c:dPt>
          <c:dPt>
            <c:idx val="4"/>
            <c:invertIfNegative val="0"/>
            <c:bubble3D val="0"/>
            <c:spPr>
              <a:solidFill>
                <a:srgbClr val="F5A62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FD81-48DD-A47C-1CCBBEB3B80B}"/>
              </c:ext>
            </c:extLst>
          </c:dPt>
          <c:dPt>
            <c:idx val="5"/>
            <c:invertIfNegative val="0"/>
            <c:bubble3D val="0"/>
            <c:spPr>
              <a:solidFill>
                <a:srgbClr val="3B82F6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FD81-48DD-A47C-1CCBBEB3B80B}"/>
              </c:ext>
            </c:extLst>
          </c:dPt>
          <c:dPt>
            <c:idx val="6"/>
            <c:invertIfNegative val="0"/>
            <c:bubble3D val="0"/>
            <c:spPr>
              <a:solidFill>
                <a:srgbClr val="3B82F6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FD81-48DD-A47C-1CCBBEB3B80B}"/>
              </c:ext>
            </c:extLst>
          </c:dPt>
          <c:dPt>
            <c:idx val="7"/>
            <c:invertIfNegative val="0"/>
            <c:bubble3D val="0"/>
            <c:spPr>
              <a:solidFill>
                <a:srgbClr val="1A8A57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F-FD81-48DD-A47C-1CCBBEB3B80B}"/>
              </c:ext>
            </c:extLst>
          </c:dPt>
          <c:dPt>
            <c:idx val="8"/>
            <c:invertIfNegative val="0"/>
            <c:bubble3D val="0"/>
            <c:spPr>
              <a:solidFill>
                <a:srgbClr val="1A8A57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1-FD81-48DD-A47C-1CCBBEB3B80B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FFFFFF"/>
                    </a:solidFill>
                    <a:latin typeface="Arial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Sales</c:v>
                </c:pt>
                <c:pt idx="1">
                  <c:v>Marketing</c:v>
                </c:pt>
                <c:pt idx="2">
                  <c:v>Value Eng</c:v>
                </c:pt>
                <c:pt idx="3">
                  <c:v>Cust Support</c:v>
                </c:pt>
                <c:pt idx="4">
                  <c:v>Exec Mgmt</c:v>
                </c:pt>
                <c:pt idx="5">
                  <c:v>Ecosystem</c:v>
                </c:pt>
                <c:pt idx="6">
                  <c:v>Services</c:v>
                </c:pt>
                <c:pt idx="7">
                  <c:v>Operations</c:v>
                </c:pt>
                <c:pt idx="8">
                  <c:v>Legal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60.1</c:v>
                </c:pt>
                <c:pt idx="1">
                  <c:v>33.4</c:v>
                </c:pt>
                <c:pt idx="2">
                  <c:v>17.2</c:v>
                </c:pt>
                <c:pt idx="3">
                  <c:v>14.7</c:v>
                </c:pt>
                <c:pt idx="4">
                  <c:v>12.5</c:v>
                </c:pt>
                <c:pt idx="5">
                  <c:v>10</c:v>
                </c:pt>
                <c:pt idx="6">
                  <c:v>9</c:v>
                </c:pt>
                <c:pt idx="7">
                  <c:v>7.2</c:v>
                </c:pt>
                <c:pt idx="8">
                  <c:v>4.0999999999999996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2-FD81-48DD-A47C-1CCBBEB3B80B}"/>
            </c:ext>
          </c:extLst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25353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Reduction (M kg)</c:v>
                </c:pt>
              </c:strCache>
            </c:strRef>
          </c:tx>
          <c:spPr>
            <a:solidFill>
              <a:srgbClr val="D64045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CE19-474B-A22B-E8D3712981FD}"/>
              </c:ext>
            </c:extLst>
          </c:dPt>
          <c:dPt>
            <c:idx val="1"/>
            <c:invertIfNegative val="0"/>
            <c:bubble3D val="0"/>
            <c:spPr>
              <a:solidFill>
                <a:srgbClr val="F5A62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CE19-474B-A22B-E8D3712981FD}"/>
              </c:ext>
            </c:extLst>
          </c:dPt>
          <c:dPt>
            <c:idx val="2"/>
            <c:invertIfNegative val="0"/>
            <c:bubble3D val="0"/>
            <c:spPr>
              <a:solidFill>
                <a:srgbClr val="0F5C3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CE19-474B-A22B-E8D3712981FD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FFFFFF"/>
                    </a:solidFill>
                    <a:latin typeface="Arial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2026 (Year 1)</c:v>
                </c:pt>
                <c:pt idx="1">
                  <c:v>2027 (Year 2)</c:v>
                </c:pt>
                <c:pt idx="2">
                  <c:v>2028 (Year 3)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47.9</c:v>
                </c:pt>
                <c:pt idx="1">
                  <c:v>69.900000000000006</c:v>
                </c:pt>
                <c:pt idx="2">
                  <c:v>87.3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CE19-474B-A22B-E8D3712981FD}"/>
            </c:ext>
          </c:extLst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25353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High-Carbon %</c:v>
                </c:pt>
              </c:strCache>
            </c:strRef>
          </c:tx>
          <c:spPr>
            <a:solidFill>
              <a:srgbClr val="D64045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7EDF-4577-8199-4781993C5DF7}"/>
              </c:ext>
            </c:extLst>
          </c:dPt>
          <c:dPt>
            <c:idx val="1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3-7EDF-4577-8199-4781993C5DF7}"/>
              </c:ext>
            </c:extLst>
          </c:dPt>
          <c:dPt>
            <c:idx val="2"/>
            <c:invertIfNegative val="0"/>
            <c:bubble3D val="0"/>
            <c:spPr>
              <a:solidFill>
                <a:srgbClr val="F5A62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7EDF-4577-8199-4781993C5DF7}"/>
              </c:ext>
            </c:extLst>
          </c:dPt>
          <c:dPt>
            <c:idx val="3"/>
            <c:invertIfNegative val="0"/>
            <c:bubble3D val="0"/>
            <c:spPr>
              <a:solidFill>
                <a:srgbClr val="3B82F6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7EDF-4577-8199-4781993C5DF7}"/>
              </c:ext>
            </c:extLst>
          </c:dPt>
          <c:dPt>
            <c:idx val="4"/>
            <c:invertIfNegative val="0"/>
            <c:bubble3D val="0"/>
            <c:spPr>
              <a:solidFill>
                <a:srgbClr val="1A8A57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7EDF-4577-8199-4781993C5DF7}"/>
              </c:ext>
            </c:extLst>
          </c:dPt>
          <c:dPt>
            <c:idx val="5"/>
            <c:invertIfNegative val="0"/>
            <c:bubble3D val="0"/>
            <c:spPr>
              <a:solidFill>
                <a:srgbClr val="2EC47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7EDF-4577-8199-4781993C5DF7}"/>
              </c:ext>
            </c:extLst>
          </c:dPt>
          <c:dPt>
            <c:idx val="6"/>
            <c:invertIfNegative val="0"/>
            <c:bubble3D val="0"/>
            <c:spPr>
              <a:solidFill>
                <a:srgbClr val="2EC47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7EDF-4577-8199-4781993C5DF7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FFFFFF"/>
                    </a:solidFill>
                    <a:latin typeface="Arial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Sheet1!$A$2:$A$8</c:f>
              <c:strCache>
                <c:ptCount val="7"/>
                <c:pt idx="0">
                  <c:v>First Class</c:v>
                </c:pt>
                <c:pt idx="1">
                  <c:v>Business Class</c:v>
                </c:pt>
                <c:pt idx="2">
                  <c:v>Economy</c:v>
                </c:pt>
                <c:pt idx="3">
                  <c:v>BMW Diesel</c:v>
                </c:pt>
                <c:pt idx="4">
                  <c:v>VW Golf</c:v>
                </c:pt>
                <c:pt idx="5">
                  <c:v>EV</c:v>
                </c:pt>
                <c:pt idx="6">
                  <c:v>Train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62.9</c:v>
                </c:pt>
                <c:pt idx="1">
                  <c:v>56.4</c:v>
                </c:pt>
                <c:pt idx="2">
                  <c:v>21.4</c:v>
                </c:pt>
                <c:pt idx="3">
                  <c:v>10.7</c:v>
                </c:pt>
                <c:pt idx="4">
                  <c:v>5.2</c:v>
                </c:pt>
                <c:pt idx="5">
                  <c:v>5.0999999999999996</c:v>
                </c:pt>
                <c:pt idx="6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E-7EDF-4577-8199-4781993C5DF7}"/>
            </c:ext>
          </c:extLst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25353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4744301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1F1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EC47A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0" y="1645920"/>
            <a:ext cx="822960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0F5C3A">
                    <a:alpha val="2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ZERO</a:t>
            </a:r>
            <a:endParaRPr lang="en-US" sz="9600" dirty="0"/>
          </a:p>
        </p:txBody>
      </p:sp>
      <p:sp>
        <p:nvSpPr>
          <p:cNvPr id="5" name="Shape 3"/>
          <p:cNvSpPr/>
          <p:nvPr/>
        </p:nvSpPr>
        <p:spPr>
          <a:xfrm>
            <a:off x="457200" y="502920"/>
            <a:ext cx="3200400" cy="292608"/>
          </a:xfrm>
          <a:prstGeom prst="rect">
            <a:avLst/>
          </a:prstGeom>
          <a:solidFill>
            <a:srgbClr val="2EC47A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530352"/>
            <a:ext cx="31089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0D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SUMMER ANALYTICS 2026 · CELONIS CAPSTONE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82296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Decarbonizing Travel</a:t>
            </a:r>
            <a:endParaRPr lang="en-US" sz="4800" dirty="0"/>
          </a:p>
        </p:txBody>
      </p:sp>
      <p:sp>
        <p:nvSpPr>
          <p:cNvPr id="8" name="Text 6"/>
          <p:cNvSpPr/>
          <p:nvPr/>
        </p:nvSpPr>
        <p:spPr>
          <a:xfrm>
            <a:off x="457200" y="182880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2EC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Data-Driven Roadmap to Net Zero by 2030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457200" y="251460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C8E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Celonis spent $140M on business travel. 29% of those emissions are immediately avoidable.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" y="3063240"/>
            <a:ext cx="7772400" cy="0"/>
          </a:xfrm>
          <a:prstGeom prst="line">
            <a:avLst/>
          </a:prstGeom>
          <a:noFill/>
          <a:ln w="19050">
            <a:solidFill>
              <a:srgbClr val="1A8A5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38912" y="3246120"/>
            <a:ext cx="91440" cy="91440"/>
          </a:xfrm>
          <a:prstGeom prst="ellipse">
            <a:avLst/>
          </a:prstGeom>
          <a:solidFill>
            <a:srgbClr val="2EC47A"/>
          </a:solidFill>
          <a:ln/>
        </p:spPr>
      </p:sp>
      <p:sp>
        <p:nvSpPr>
          <p:cNvPr id="12" name="Text 10"/>
          <p:cNvSpPr/>
          <p:nvPr/>
        </p:nvSpPr>
        <p:spPr>
          <a:xfrm>
            <a:off x="621792" y="3182112"/>
            <a:ext cx="24688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EC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178M kg CO₂e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21792" y="3557016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Emissions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273552" y="3246120"/>
            <a:ext cx="91440" cy="91440"/>
          </a:xfrm>
          <a:prstGeom prst="ellipse">
            <a:avLst/>
          </a:prstGeom>
          <a:solidFill>
            <a:srgbClr val="2EC47A"/>
          </a:solidFill>
          <a:ln/>
        </p:spPr>
      </p:sp>
      <p:sp>
        <p:nvSpPr>
          <p:cNvPr id="15" name="Text 13"/>
          <p:cNvSpPr/>
          <p:nvPr/>
        </p:nvSpPr>
        <p:spPr>
          <a:xfrm>
            <a:off x="3456432" y="3182112"/>
            <a:ext cx="24688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EC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25%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3456432" y="3557016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High-Carbon Trips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108192" y="3246120"/>
            <a:ext cx="91440" cy="91440"/>
          </a:xfrm>
          <a:prstGeom prst="ellipse">
            <a:avLst/>
          </a:prstGeom>
          <a:solidFill>
            <a:srgbClr val="2EC47A"/>
          </a:solidFill>
          <a:ln/>
        </p:spPr>
      </p:sp>
      <p:sp>
        <p:nvSpPr>
          <p:cNvPr id="18" name="Text 16"/>
          <p:cNvSpPr/>
          <p:nvPr/>
        </p:nvSpPr>
        <p:spPr>
          <a:xfrm>
            <a:off x="6291072" y="3182112"/>
            <a:ext cx="24688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EC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52M kg/yr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6291072" y="3557016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Addressable Reduction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A8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INSIGHTS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57200" y="4407408"/>
            <a:ext cx="100584" cy="100584"/>
          </a:xfrm>
          <a:prstGeom prst="ellipse">
            <a:avLst/>
          </a:prstGeom>
          <a:solidFill>
            <a:srgbClr val="2EC47A"/>
          </a:solidFill>
          <a:ln/>
        </p:spPr>
      </p:sp>
      <p:sp>
        <p:nvSpPr>
          <p:cNvPr id="22" name="Text 20"/>
          <p:cNvSpPr/>
          <p:nvPr/>
        </p:nvSpPr>
        <p:spPr>
          <a:xfrm>
            <a:off x="658368" y="4352544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&amp; First Class flights = 44% of CO₂, 25% of trips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57200" y="4791456"/>
            <a:ext cx="100584" cy="100584"/>
          </a:xfrm>
          <a:prstGeom prst="ellipse">
            <a:avLst/>
          </a:prstGeom>
          <a:solidFill>
            <a:srgbClr val="2EC47A"/>
          </a:solidFill>
          <a:ln/>
        </p:spPr>
      </p:sp>
      <p:sp>
        <p:nvSpPr>
          <p:cNvPr id="24" name="Text 22"/>
          <p:cNvSpPr/>
          <p:nvPr/>
        </p:nvSpPr>
        <p:spPr>
          <a:xfrm>
            <a:off x="658368" y="4736592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APAC (AU, CN, BR) accounts for 66% of total emissions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57200" y="5175504"/>
            <a:ext cx="100584" cy="100584"/>
          </a:xfrm>
          <a:prstGeom prst="ellipse">
            <a:avLst/>
          </a:prstGeom>
          <a:solidFill>
            <a:srgbClr val="2EC47A"/>
          </a:solidFill>
          <a:ln/>
        </p:spPr>
      </p:sp>
      <p:sp>
        <p:nvSpPr>
          <p:cNvPr id="26" name="Text 24"/>
          <p:cNvSpPr/>
          <p:nvPr/>
        </p:nvSpPr>
        <p:spPr>
          <a:xfrm>
            <a:off x="658368" y="5120640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18.4% of trips are Out-of-Policy — 1,100 kg excess CO₂ each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035040" y="4023360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RECOMMENDATIONS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035040" y="4407408"/>
            <a:ext cx="100584" cy="100584"/>
          </a:xfrm>
          <a:prstGeom prst="ellipse">
            <a:avLst/>
          </a:prstGeom>
          <a:solidFill>
            <a:srgbClr val="F5A623"/>
          </a:solidFill>
          <a:ln/>
        </p:spPr>
      </p:sp>
      <p:sp>
        <p:nvSpPr>
          <p:cNvPr id="29" name="Text 27"/>
          <p:cNvSpPr/>
          <p:nvPr/>
        </p:nvSpPr>
        <p:spPr>
          <a:xfrm>
            <a:off x="6236208" y="4352544"/>
            <a:ext cx="5394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Mandate Economy class → save 34.7M kg/yr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035040" y="4791456"/>
            <a:ext cx="100584" cy="100584"/>
          </a:xfrm>
          <a:prstGeom prst="ellipse">
            <a:avLst/>
          </a:prstGeom>
          <a:solidFill>
            <a:srgbClr val="F5A623"/>
          </a:solidFill>
          <a:ln/>
        </p:spPr>
      </p:sp>
      <p:sp>
        <p:nvSpPr>
          <p:cNvPr id="31" name="Text 29"/>
          <p:cNvSpPr/>
          <p:nvPr/>
        </p:nvSpPr>
        <p:spPr>
          <a:xfrm>
            <a:off x="6236208" y="4736592"/>
            <a:ext cx="5394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approval gates to block OOP bookings → save 13.2M kg/yr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035040" y="5175504"/>
            <a:ext cx="100584" cy="100584"/>
          </a:xfrm>
          <a:prstGeom prst="ellipse">
            <a:avLst/>
          </a:prstGeom>
          <a:solidFill>
            <a:srgbClr val="F5A623"/>
          </a:solidFill>
          <a:ln/>
        </p:spPr>
      </p:sp>
      <p:sp>
        <p:nvSpPr>
          <p:cNvPr id="33" name="Text 31"/>
          <p:cNvSpPr/>
          <p:nvPr/>
        </p:nvSpPr>
        <p:spPr>
          <a:xfrm>
            <a:off x="6236208" y="5120640"/>
            <a:ext cx="5394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Rail-first policy for EU/intra-region routes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0" y="6446520"/>
            <a:ext cx="12192000" cy="411480"/>
          </a:xfrm>
          <a:prstGeom prst="rect">
            <a:avLst/>
          </a:prstGeom>
          <a:solidFill>
            <a:srgbClr val="0F5C3A"/>
          </a:solidFill>
          <a:ln/>
        </p:spPr>
      </p:sp>
      <p:sp>
        <p:nvSpPr>
          <p:cNvPr id="35" name="Text 33"/>
          <p:cNvSpPr/>
          <p:nvPr/>
        </p:nvSpPr>
        <p:spPr>
          <a:xfrm>
            <a:off x="365760" y="6492240"/>
            <a:ext cx="11430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EC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Vaibhav Soni  ·  Summer Analytics 2026  ·  IIT Guwahati x Celonis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1143000"/>
          </a:xfrm>
          <a:prstGeom prst="rect">
            <a:avLst/>
          </a:prstGeom>
          <a:solidFill>
            <a:srgbClr val="0F5C3A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9144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Emissions Profile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10058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EC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Question 1: What does Celonis' current carbon footprint look like?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74320" y="1280160"/>
            <a:ext cx="2148840" cy="1371600"/>
          </a:xfrm>
          <a:prstGeom prst="rect">
            <a:avLst/>
          </a:prstGeom>
          <a:solidFill>
            <a:srgbClr val="F2FAF6"/>
          </a:solidFill>
          <a:ln w="12700">
            <a:solidFill>
              <a:srgbClr val="D4ED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1399032"/>
            <a:ext cx="1929384" cy="6172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D640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178M kg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365760" y="1993392"/>
            <a:ext cx="1965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53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CO₂e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65760" y="2350008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 3 Travel Emissions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606040" y="1280160"/>
            <a:ext cx="2148840" cy="1371600"/>
          </a:xfrm>
          <a:prstGeom prst="rect">
            <a:avLst/>
          </a:prstGeom>
          <a:solidFill>
            <a:srgbClr val="F2FAF6"/>
          </a:solidFill>
          <a:ln w="12700">
            <a:solidFill>
              <a:srgbClr val="D4ED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715768" y="1399032"/>
            <a:ext cx="1929384" cy="6172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F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65,289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2697480" y="1993392"/>
            <a:ext cx="1965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53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Trips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697480" y="2350008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all regions &amp; BUs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937760" y="1280160"/>
            <a:ext cx="2148840" cy="1371600"/>
          </a:xfrm>
          <a:prstGeom prst="rect">
            <a:avLst/>
          </a:prstGeom>
          <a:solidFill>
            <a:srgbClr val="F2FAF6"/>
          </a:solidFill>
          <a:ln w="12700">
            <a:solidFill>
              <a:srgbClr val="D4ED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47488" y="1399032"/>
            <a:ext cx="1929384" cy="6172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2,728 kg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5029200" y="1993392"/>
            <a:ext cx="1965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53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CO₂ / Trip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029200" y="2350008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Equivalent: 15,000 km by car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7269480" y="1280160"/>
            <a:ext cx="2148840" cy="1371600"/>
          </a:xfrm>
          <a:prstGeom prst="rect">
            <a:avLst/>
          </a:prstGeom>
          <a:solidFill>
            <a:srgbClr val="F2FAF6"/>
          </a:solidFill>
          <a:ln w="12700">
            <a:solidFill>
              <a:srgbClr val="D4ED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379208" y="1399032"/>
            <a:ext cx="1929384" cy="6172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D640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25.0%</a:t>
            </a:r>
            <a:endParaRPr lang="en-US" sz="2800" dirty="0"/>
          </a:p>
        </p:txBody>
      </p:sp>
      <p:sp>
        <p:nvSpPr>
          <p:cNvPr id="20" name="Text 18"/>
          <p:cNvSpPr/>
          <p:nvPr/>
        </p:nvSpPr>
        <p:spPr>
          <a:xfrm>
            <a:off x="7360920" y="1993392"/>
            <a:ext cx="1965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53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High-Carbon Trips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7360920" y="2350008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16,326 trips above threshold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9601200" y="1280160"/>
            <a:ext cx="2148840" cy="1371600"/>
          </a:xfrm>
          <a:prstGeom prst="rect">
            <a:avLst/>
          </a:prstGeom>
          <a:solidFill>
            <a:srgbClr val="F2FAF6"/>
          </a:solidFill>
          <a:ln w="12700">
            <a:solidFill>
              <a:srgbClr val="D4ED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710928" y="1399032"/>
            <a:ext cx="1929384" cy="6172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18.4%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9692640" y="1993392"/>
            <a:ext cx="1965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53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Out-of-Policy Rate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9692640" y="2350008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12,005 non-compliant trips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274320" y="2834640"/>
            <a:ext cx="6400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CO₂e by Transport Mode (kg)</a:t>
            </a:r>
            <a:endParaRPr lang="en-US" sz="1200" dirty="0"/>
          </a:p>
        </p:txBody>
      </p:sp>
      <p:graphicFrame>
        <p:nvGraphicFramePr>
          <p:cNvPr id="27" name="Chart 0"/>
          <p:cNvGraphicFramePr/>
          <p:nvPr/>
        </p:nvGraphicFramePr>
        <p:xfrm>
          <a:off x="274320" y="3154680"/>
          <a:ext cx="7132320" cy="3383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8" name="Shape 25"/>
          <p:cNvSpPr/>
          <p:nvPr/>
        </p:nvSpPr>
        <p:spPr>
          <a:xfrm>
            <a:off x="7589520" y="3154680"/>
            <a:ext cx="4251960" cy="3383280"/>
          </a:xfrm>
          <a:prstGeom prst="rect">
            <a:avLst/>
          </a:prstGeom>
          <a:solidFill>
            <a:srgbClr val="E8F5EE"/>
          </a:solidFill>
          <a:ln w="12700">
            <a:solidFill>
              <a:srgbClr val="D4EDE0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7772400" y="329184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A8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INSIGHT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7680960" y="370332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000000"/>
                </a:solidFill>
              </a:rPr>
              <a:t>✈</a:t>
            </a:r>
            <a:endParaRPr lang="en-US" sz="1600" dirty="0"/>
          </a:p>
        </p:txBody>
      </p:sp>
      <p:sp>
        <p:nvSpPr>
          <p:cNvPr id="31" name="Text 28"/>
          <p:cNvSpPr/>
          <p:nvPr/>
        </p:nvSpPr>
        <p:spPr>
          <a:xfrm>
            <a:off x="8092440" y="370332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53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Flights = 83.9% of all CO₂e (149M kg) but 66% of trips</a:t>
            </a:r>
            <a:endParaRPr lang="en-US" sz="950" dirty="0"/>
          </a:p>
        </p:txBody>
      </p:sp>
      <p:sp>
        <p:nvSpPr>
          <p:cNvPr id="32" name="Text 29"/>
          <p:cNvSpPr/>
          <p:nvPr/>
        </p:nvSpPr>
        <p:spPr>
          <a:xfrm>
            <a:off x="7680960" y="437083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000000"/>
                </a:solidFill>
              </a:rPr>
              <a:t>💼</a:t>
            </a:r>
            <a:endParaRPr lang="en-US" sz="1600" dirty="0"/>
          </a:p>
        </p:txBody>
      </p:sp>
      <p:sp>
        <p:nvSpPr>
          <p:cNvPr id="33" name="Text 30"/>
          <p:cNvSpPr/>
          <p:nvPr/>
        </p:nvSpPr>
        <p:spPr>
          <a:xfrm>
            <a:off x="8092440" y="4370832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53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Class alone = 41% of total CO₂, despite being avoidable</a:t>
            </a:r>
            <a:endParaRPr lang="en-US" sz="950" dirty="0"/>
          </a:p>
        </p:txBody>
      </p:sp>
      <p:sp>
        <p:nvSpPr>
          <p:cNvPr id="34" name="Text 31"/>
          <p:cNvSpPr/>
          <p:nvPr/>
        </p:nvSpPr>
        <p:spPr>
          <a:xfrm>
            <a:off x="7680960" y="5038344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000000"/>
                </a:solidFill>
              </a:rPr>
              <a:t>🚂</a:t>
            </a:r>
            <a:endParaRPr lang="en-US" sz="1600" dirty="0"/>
          </a:p>
        </p:txBody>
      </p:sp>
      <p:sp>
        <p:nvSpPr>
          <p:cNvPr id="35" name="Text 32"/>
          <p:cNvSpPr/>
          <p:nvPr/>
        </p:nvSpPr>
        <p:spPr>
          <a:xfrm>
            <a:off x="8092440" y="5038344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53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Trains emit 445 kg avg vs 4,865 kg for Business Class — 10.9x difference</a:t>
            </a:r>
            <a:endParaRPr lang="en-US" sz="950" dirty="0"/>
          </a:p>
        </p:txBody>
      </p:sp>
      <p:sp>
        <p:nvSpPr>
          <p:cNvPr id="36" name="Text 33"/>
          <p:cNvSpPr/>
          <p:nvPr/>
        </p:nvSpPr>
        <p:spPr>
          <a:xfrm>
            <a:off x="7680960" y="5705856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000000"/>
                </a:solidFill>
              </a:rPr>
              <a:t>⚡</a:t>
            </a:r>
            <a:endParaRPr lang="en-US" sz="1600" dirty="0"/>
          </a:p>
        </p:txBody>
      </p:sp>
      <p:sp>
        <p:nvSpPr>
          <p:cNvPr id="37" name="Text 34"/>
          <p:cNvSpPr/>
          <p:nvPr/>
        </p:nvSpPr>
        <p:spPr>
          <a:xfrm>
            <a:off x="8092440" y="5705856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53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 (Fiat 500) = lowest road CO₂ at 1,066 kg avg. 36% less than diesel car</a:t>
            </a:r>
            <a:endParaRPr lang="en-US" sz="950" dirty="0"/>
          </a:p>
        </p:txBody>
      </p:sp>
      <p:sp>
        <p:nvSpPr>
          <p:cNvPr id="38" name="Shape 35"/>
          <p:cNvSpPr/>
          <p:nvPr/>
        </p:nvSpPr>
        <p:spPr>
          <a:xfrm>
            <a:off x="274320" y="6355080"/>
            <a:ext cx="7132320" cy="256032"/>
          </a:xfrm>
          <a:prstGeom prst="rect">
            <a:avLst/>
          </a:prstGeom>
          <a:solidFill>
            <a:srgbClr val="FEF2F2"/>
          </a:solidFill>
          <a:ln/>
        </p:spPr>
      </p:sp>
      <p:sp>
        <p:nvSpPr>
          <p:cNvPr id="39" name="Text 36"/>
          <p:cNvSpPr/>
          <p:nvPr/>
        </p:nvSpPr>
        <p:spPr>
          <a:xfrm>
            <a:off x="365760" y="6382512"/>
            <a:ext cx="6949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D640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Class + First Class = 79.7M kg CO₂e — 44.7% of total emissions. Both are avoidable through policy.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1143000"/>
          </a:xfrm>
          <a:prstGeom prst="rect">
            <a:avLst/>
          </a:prstGeom>
          <a:solidFill>
            <a:srgbClr val="0F5C3A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9144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Regional Benchmarking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10058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EC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Question 2: How do travel processes compare across North America, Europe, and Asia?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74320" y="1280160"/>
            <a:ext cx="2240280" cy="3840480"/>
          </a:xfrm>
          <a:prstGeom prst="rect">
            <a:avLst/>
          </a:prstGeom>
          <a:solidFill>
            <a:srgbClr val="F2FAF6"/>
          </a:solidFill>
          <a:ln w="12700">
            <a:solidFill>
              <a:srgbClr val="D4ED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74320" y="1280160"/>
            <a:ext cx="2240280" cy="411480"/>
          </a:xfrm>
          <a:prstGeom prst="rect">
            <a:avLst/>
          </a:prstGeom>
          <a:solidFill>
            <a:srgbClr val="D64045"/>
          </a:solidFill>
          <a:ln/>
        </p:spPr>
      </p:sp>
      <p:sp>
        <p:nvSpPr>
          <p:cNvPr id="8" name="Text 6"/>
          <p:cNvSpPr/>
          <p:nvPr/>
        </p:nvSpPr>
        <p:spPr>
          <a:xfrm>
            <a:off x="365760" y="1298448"/>
            <a:ext cx="2057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APAC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365760" y="1810512"/>
            <a:ext cx="2057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D640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117.2M kg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365760" y="2212848"/>
            <a:ext cx="2057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CO₂e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384048" y="2606040"/>
            <a:ext cx="1051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53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Share: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280160" y="2606040"/>
            <a:ext cx="1143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0D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65.8%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84048" y="3081528"/>
            <a:ext cx="1051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53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Trips: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280160" y="3081528"/>
            <a:ext cx="1143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0D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30,652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84048" y="3557016"/>
            <a:ext cx="1051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53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OOP Rate: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280160" y="3557016"/>
            <a:ext cx="1143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0D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15.2%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84048" y="4032504"/>
            <a:ext cx="1051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53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High-Carbon: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280160" y="4032504"/>
            <a:ext cx="1143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0D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40.4%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84048" y="4773168"/>
            <a:ext cx="2011680" cy="228600"/>
          </a:xfrm>
          <a:prstGeom prst="rect">
            <a:avLst/>
          </a:prstGeom>
          <a:solidFill>
            <a:srgbClr val="E8F5EE"/>
          </a:solidFill>
          <a:ln/>
        </p:spPr>
      </p:sp>
      <p:sp>
        <p:nvSpPr>
          <p:cNvPr id="20" name="Text 18"/>
          <p:cNvSpPr/>
          <p:nvPr/>
        </p:nvSpPr>
        <p:spPr>
          <a:xfrm>
            <a:off x="384048" y="4791456"/>
            <a:ext cx="2011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D640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HIGHEST EMITTER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2651760" y="1280160"/>
            <a:ext cx="2240280" cy="3840480"/>
          </a:xfrm>
          <a:prstGeom prst="rect">
            <a:avLst/>
          </a:prstGeom>
          <a:solidFill>
            <a:srgbClr val="F2FAF6"/>
          </a:solidFill>
          <a:ln w="12700">
            <a:solidFill>
              <a:srgbClr val="D4EDE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651760" y="1280160"/>
            <a:ext cx="2240280" cy="411480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23" name="Text 21"/>
          <p:cNvSpPr/>
          <p:nvPr/>
        </p:nvSpPr>
        <p:spPr>
          <a:xfrm>
            <a:off x="2743200" y="1298448"/>
            <a:ext cx="2057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LATAM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2743200" y="1810512"/>
            <a:ext cx="2057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39.7M kg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2743200" y="2212848"/>
            <a:ext cx="2057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CO₂e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2761488" y="2606040"/>
            <a:ext cx="1051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53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Share: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3657600" y="2606040"/>
            <a:ext cx="1143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0D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22.3%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2761488" y="3081528"/>
            <a:ext cx="1051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53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Trips: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3657600" y="3081528"/>
            <a:ext cx="1143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0D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14,674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2761488" y="3557016"/>
            <a:ext cx="1051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53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OOP Rate: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3657600" y="3557016"/>
            <a:ext cx="1143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0D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11.6%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2761488" y="4032504"/>
            <a:ext cx="1051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53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High-Carbon: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3657600" y="4032504"/>
            <a:ext cx="1143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0D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20.9%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2761488" y="4773168"/>
            <a:ext cx="2011680" cy="228600"/>
          </a:xfrm>
          <a:prstGeom prst="rect">
            <a:avLst/>
          </a:prstGeom>
          <a:solidFill>
            <a:srgbClr val="E8F5EE"/>
          </a:solidFill>
          <a:ln/>
        </p:spPr>
      </p:sp>
      <p:sp>
        <p:nvSpPr>
          <p:cNvPr id="35" name="Text 33"/>
          <p:cNvSpPr/>
          <p:nvPr/>
        </p:nvSpPr>
        <p:spPr>
          <a:xfrm>
            <a:off x="2761488" y="4791456"/>
            <a:ext cx="2011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2ND EMITTER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5029200" y="1280160"/>
            <a:ext cx="2240280" cy="3840480"/>
          </a:xfrm>
          <a:prstGeom prst="rect">
            <a:avLst/>
          </a:prstGeom>
          <a:solidFill>
            <a:srgbClr val="F2FAF6"/>
          </a:solidFill>
          <a:ln w="12700">
            <a:solidFill>
              <a:srgbClr val="D4EDE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029200" y="1280160"/>
            <a:ext cx="2240280" cy="41148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8" name="Text 36"/>
          <p:cNvSpPr/>
          <p:nvPr/>
        </p:nvSpPr>
        <p:spPr>
          <a:xfrm>
            <a:off x="5120640" y="1298448"/>
            <a:ext cx="2057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</a:t>
            </a:r>
            <a:endParaRPr lang="en-US" sz="1600" dirty="0"/>
          </a:p>
        </p:txBody>
      </p:sp>
      <p:sp>
        <p:nvSpPr>
          <p:cNvPr id="39" name="Text 37"/>
          <p:cNvSpPr/>
          <p:nvPr/>
        </p:nvSpPr>
        <p:spPr>
          <a:xfrm>
            <a:off x="5120640" y="1810512"/>
            <a:ext cx="2057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14.6M kg</a:t>
            </a:r>
            <a:endParaRPr lang="en-US" sz="1800" dirty="0"/>
          </a:p>
        </p:txBody>
      </p:sp>
      <p:sp>
        <p:nvSpPr>
          <p:cNvPr id="40" name="Text 38"/>
          <p:cNvSpPr/>
          <p:nvPr/>
        </p:nvSpPr>
        <p:spPr>
          <a:xfrm>
            <a:off x="5120640" y="2212848"/>
            <a:ext cx="2057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CO₂e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5138928" y="2606040"/>
            <a:ext cx="1051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53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Share: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6035040" y="2606040"/>
            <a:ext cx="1143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0D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8.2%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5138928" y="3081528"/>
            <a:ext cx="1051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53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Trips: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035040" y="3081528"/>
            <a:ext cx="1143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0D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9,505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5138928" y="3557016"/>
            <a:ext cx="1051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53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OOP Rate: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035040" y="3557016"/>
            <a:ext cx="1143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0D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30.1%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5138928" y="4032504"/>
            <a:ext cx="1051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53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High-Carbon: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6035040" y="4032504"/>
            <a:ext cx="1143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0D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9.2%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5138928" y="4773168"/>
            <a:ext cx="2011680" cy="228600"/>
          </a:xfrm>
          <a:prstGeom prst="rect">
            <a:avLst/>
          </a:prstGeom>
          <a:solidFill>
            <a:srgbClr val="E8F5EE"/>
          </a:solidFill>
          <a:ln/>
        </p:spPr>
      </p:sp>
      <p:sp>
        <p:nvSpPr>
          <p:cNvPr id="50" name="Text 48"/>
          <p:cNvSpPr/>
          <p:nvPr/>
        </p:nvSpPr>
        <p:spPr>
          <a:xfrm>
            <a:off x="5138928" y="4791456"/>
            <a:ext cx="2011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OOP RATE</a:t>
            </a:r>
            <a:endParaRPr lang="en-US" sz="750" dirty="0"/>
          </a:p>
        </p:txBody>
      </p:sp>
      <p:sp>
        <p:nvSpPr>
          <p:cNvPr id="51" name="Shape 49"/>
          <p:cNvSpPr/>
          <p:nvPr/>
        </p:nvSpPr>
        <p:spPr>
          <a:xfrm>
            <a:off x="7406640" y="1280160"/>
            <a:ext cx="2240280" cy="3840480"/>
          </a:xfrm>
          <a:prstGeom prst="rect">
            <a:avLst/>
          </a:prstGeom>
          <a:solidFill>
            <a:srgbClr val="F2FAF6"/>
          </a:solidFill>
          <a:ln w="12700">
            <a:solidFill>
              <a:srgbClr val="D4EDE0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7406640" y="1280160"/>
            <a:ext cx="2240280" cy="411480"/>
          </a:xfrm>
          <a:prstGeom prst="rect">
            <a:avLst/>
          </a:prstGeom>
          <a:solidFill>
            <a:srgbClr val="2EC47A"/>
          </a:solidFill>
          <a:ln/>
        </p:spPr>
      </p:sp>
      <p:sp>
        <p:nvSpPr>
          <p:cNvPr id="53" name="Text 51"/>
          <p:cNvSpPr/>
          <p:nvPr/>
        </p:nvSpPr>
        <p:spPr>
          <a:xfrm>
            <a:off x="7498080" y="1298448"/>
            <a:ext cx="2057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Europe</a:t>
            </a:r>
            <a:endParaRPr lang="en-US" sz="1600" dirty="0"/>
          </a:p>
        </p:txBody>
      </p:sp>
      <p:sp>
        <p:nvSpPr>
          <p:cNvPr id="54" name="Text 52"/>
          <p:cNvSpPr/>
          <p:nvPr/>
        </p:nvSpPr>
        <p:spPr>
          <a:xfrm>
            <a:off x="7498080" y="1810512"/>
            <a:ext cx="2057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2EC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5.4M kg</a:t>
            </a:r>
            <a:endParaRPr lang="en-US" sz="1800" dirty="0"/>
          </a:p>
        </p:txBody>
      </p:sp>
      <p:sp>
        <p:nvSpPr>
          <p:cNvPr id="55" name="Text 53"/>
          <p:cNvSpPr/>
          <p:nvPr/>
        </p:nvSpPr>
        <p:spPr>
          <a:xfrm>
            <a:off x="7498080" y="2212848"/>
            <a:ext cx="2057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CO₂e</a:t>
            </a:r>
            <a:endParaRPr lang="en-US" sz="850" dirty="0"/>
          </a:p>
        </p:txBody>
      </p:sp>
      <p:sp>
        <p:nvSpPr>
          <p:cNvPr id="56" name="Text 54"/>
          <p:cNvSpPr/>
          <p:nvPr/>
        </p:nvSpPr>
        <p:spPr>
          <a:xfrm>
            <a:off x="7516368" y="2606040"/>
            <a:ext cx="1051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53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Share:</a:t>
            </a:r>
            <a:endParaRPr lang="en-US" sz="900" dirty="0"/>
          </a:p>
        </p:txBody>
      </p:sp>
      <p:sp>
        <p:nvSpPr>
          <p:cNvPr id="57" name="Text 55"/>
          <p:cNvSpPr/>
          <p:nvPr/>
        </p:nvSpPr>
        <p:spPr>
          <a:xfrm>
            <a:off x="8412480" y="2606040"/>
            <a:ext cx="1143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0D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3.1%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7516368" y="3081528"/>
            <a:ext cx="1051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53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Trips:</a:t>
            </a:r>
            <a:endParaRPr lang="en-US" sz="900" dirty="0"/>
          </a:p>
        </p:txBody>
      </p:sp>
      <p:sp>
        <p:nvSpPr>
          <p:cNvPr id="59" name="Text 57"/>
          <p:cNvSpPr/>
          <p:nvPr/>
        </p:nvSpPr>
        <p:spPr>
          <a:xfrm>
            <a:off x="8412480" y="3081528"/>
            <a:ext cx="1143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0D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9,047</a:t>
            </a:r>
            <a:endParaRPr lang="en-US" sz="1000" dirty="0"/>
          </a:p>
        </p:txBody>
      </p:sp>
      <p:sp>
        <p:nvSpPr>
          <p:cNvPr id="60" name="Text 58"/>
          <p:cNvSpPr/>
          <p:nvPr/>
        </p:nvSpPr>
        <p:spPr>
          <a:xfrm>
            <a:off x="7516368" y="3557016"/>
            <a:ext cx="1051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53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OOP Rate:</a:t>
            </a:r>
            <a:endParaRPr lang="en-US" sz="900" dirty="0"/>
          </a:p>
        </p:txBody>
      </p:sp>
      <p:sp>
        <p:nvSpPr>
          <p:cNvPr id="61" name="Text 59"/>
          <p:cNvSpPr/>
          <p:nvPr/>
        </p:nvSpPr>
        <p:spPr>
          <a:xfrm>
            <a:off x="8412480" y="3557016"/>
            <a:ext cx="1143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0D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27.8%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7516368" y="4032504"/>
            <a:ext cx="1051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53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High-Carbon:</a:t>
            </a:r>
            <a:endParaRPr lang="en-US" sz="900" dirty="0"/>
          </a:p>
        </p:txBody>
      </p:sp>
      <p:sp>
        <p:nvSpPr>
          <p:cNvPr id="63" name="Text 61"/>
          <p:cNvSpPr/>
          <p:nvPr/>
        </p:nvSpPr>
        <p:spPr>
          <a:xfrm>
            <a:off x="8412480" y="4032504"/>
            <a:ext cx="1143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0D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0.0%</a:t>
            </a:r>
            <a:endParaRPr lang="en-US" sz="1000" dirty="0"/>
          </a:p>
        </p:txBody>
      </p:sp>
      <p:sp>
        <p:nvSpPr>
          <p:cNvPr id="64" name="Shape 62"/>
          <p:cNvSpPr/>
          <p:nvPr/>
        </p:nvSpPr>
        <p:spPr>
          <a:xfrm>
            <a:off x="7516368" y="4773168"/>
            <a:ext cx="2011680" cy="228600"/>
          </a:xfrm>
          <a:prstGeom prst="rect">
            <a:avLst/>
          </a:prstGeom>
          <a:solidFill>
            <a:srgbClr val="E8F5EE"/>
          </a:solidFill>
          <a:ln/>
        </p:spPr>
      </p:sp>
      <p:sp>
        <p:nvSpPr>
          <p:cNvPr id="65" name="Text 63"/>
          <p:cNvSpPr/>
          <p:nvPr/>
        </p:nvSpPr>
        <p:spPr>
          <a:xfrm>
            <a:off x="7516368" y="4791456"/>
            <a:ext cx="2011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2EC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CLEANEST TRAVEL</a:t>
            </a:r>
            <a:endParaRPr lang="en-US" sz="750" dirty="0"/>
          </a:p>
        </p:txBody>
      </p:sp>
      <p:sp>
        <p:nvSpPr>
          <p:cNvPr id="66" name="Shape 64"/>
          <p:cNvSpPr/>
          <p:nvPr/>
        </p:nvSpPr>
        <p:spPr>
          <a:xfrm>
            <a:off x="9784080" y="1280160"/>
            <a:ext cx="2240280" cy="3840480"/>
          </a:xfrm>
          <a:prstGeom prst="rect">
            <a:avLst/>
          </a:prstGeom>
          <a:solidFill>
            <a:srgbClr val="F2FAF6"/>
          </a:solidFill>
          <a:ln w="12700">
            <a:solidFill>
              <a:srgbClr val="D4EDE0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9784080" y="1280160"/>
            <a:ext cx="2240280" cy="411480"/>
          </a:xfrm>
          <a:prstGeom prst="rect">
            <a:avLst/>
          </a:prstGeom>
          <a:solidFill>
            <a:srgbClr val="94A3B8"/>
          </a:solidFill>
          <a:ln/>
        </p:spPr>
      </p:sp>
      <p:sp>
        <p:nvSpPr>
          <p:cNvPr id="68" name="Text 66"/>
          <p:cNvSpPr/>
          <p:nvPr/>
        </p:nvSpPr>
        <p:spPr>
          <a:xfrm>
            <a:off x="9875520" y="1298448"/>
            <a:ext cx="2057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Africa</a:t>
            </a:r>
            <a:endParaRPr lang="en-US" sz="1600" dirty="0"/>
          </a:p>
        </p:txBody>
      </p:sp>
      <p:sp>
        <p:nvSpPr>
          <p:cNvPr id="69" name="Text 67"/>
          <p:cNvSpPr/>
          <p:nvPr/>
        </p:nvSpPr>
        <p:spPr>
          <a:xfrm>
            <a:off x="9875520" y="1810512"/>
            <a:ext cx="2057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1.1M kg</a:t>
            </a:r>
            <a:endParaRPr lang="en-US" sz="1800" dirty="0"/>
          </a:p>
        </p:txBody>
      </p:sp>
      <p:sp>
        <p:nvSpPr>
          <p:cNvPr id="70" name="Text 68"/>
          <p:cNvSpPr/>
          <p:nvPr/>
        </p:nvSpPr>
        <p:spPr>
          <a:xfrm>
            <a:off x="9875520" y="2212848"/>
            <a:ext cx="2057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CO₂e</a:t>
            </a:r>
            <a:endParaRPr lang="en-US" sz="850" dirty="0"/>
          </a:p>
        </p:txBody>
      </p:sp>
      <p:sp>
        <p:nvSpPr>
          <p:cNvPr id="71" name="Text 69"/>
          <p:cNvSpPr/>
          <p:nvPr/>
        </p:nvSpPr>
        <p:spPr>
          <a:xfrm>
            <a:off x="9893808" y="2606040"/>
            <a:ext cx="1051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53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Share:</a:t>
            </a:r>
            <a:endParaRPr lang="en-US" sz="900" dirty="0"/>
          </a:p>
        </p:txBody>
      </p:sp>
      <p:sp>
        <p:nvSpPr>
          <p:cNvPr id="72" name="Text 70"/>
          <p:cNvSpPr/>
          <p:nvPr/>
        </p:nvSpPr>
        <p:spPr>
          <a:xfrm>
            <a:off x="10789920" y="2606040"/>
            <a:ext cx="1143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0D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0.6%</a:t>
            </a:r>
            <a:endParaRPr lang="en-US" sz="1000" dirty="0"/>
          </a:p>
        </p:txBody>
      </p:sp>
      <p:sp>
        <p:nvSpPr>
          <p:cNvPr id="73" name="Text 71"/>
          <p:cNvSpPr/>
          <p:nvPr/>
        </p:nvSpPr>
        <p:spPr>
          <a:xfrm>
            <a:off x="9893808" y="3081528"/>
            <a:ext cx="1051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53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Trips:</a:t>
            </a:r>
            <a:endParaRPr lang="en-US" sz="900" dirty="0"/>
          </a:p>
        </p:txBody>
      </p:sp>
      <p:sp>
        <p:nvSpPr>
          <p:cNvPr id="74" name="Text 72"/>
          <p:cNvSpPr/>
          <p:nvPr/>
        </p:nvSpPr>
        <p:spPr>
          <a:xfrm>
            <a:off x="10789920" y="3081528"/>
            <a:ext cx="1143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0D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1,411</a:t>
            </a:r>
            <a:endParaRPr lang="en-US" sz="1000" dirty="0"/>
          </a:p>
        </p:txBody>
      </p:sp>
      <p:sp>
        <p:nvSpPr>
          <p:cNvPr id="75" name="Text 73"/>
          <p:cNvSpPr/>
          <p:nvPr/>
        </p:nvSpPr>
        <p:spPr>
          <a:xfrm>
            <a:off x="9893808" y="3557016"/>
            <a:ext cx="1051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53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OOP Rate:</a:t>
            </a:r>
            <a:endParaRPr lang="en-US" sz="900" dirty="0"/>
          </a:p>
        </p:txBody>
      </p:sp>
      <p:sp>
        <p:nvSpPr>
          <p:cNvPr id="76" name="Text 74"/>
          <p:cNvSpPr/>
          <p:nvPr/>
        </p:nvSpPr>
        <p:spPr>
          <a:xfrm>
            <a:off x="10789920" y="3557016"/>
            <a:ext cx="1143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0D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19.8%</a:t>
            </a:r>
            <a:endParaRPr lang="en-US" sz="1000" dirty="0"/>
          </a:p>
        </p:txBody>
      </p:sp>
      <p:sp>
        <p:nvSpPr>
          <p:cNvPr id="77" name="Text 75"/>
          <p:cNvSpPr/>
          <p:nvPr/>
        </p:nvSpPr>
        <p:spPr>
          <a:xfrm>
            <a:off x="9893808" y="4032504"/>
            <a:ext cx="1051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53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High-Carbon:</a:t>
            </a:r>
            <a:endParaRPr lang="en-US" sz="900" dirty="0"/>
          </a:p>
        </p:txBody>
      </p:sp>
      <p:sp>
        <p:nvSpPr>
          <p:cNvPr id="78" name="Text 76"/>
          <p:cNvSpPr/>
          <p:nvPr/>
        </p:nvSpPr>
        <p:spPr>
          <a:xfrm>
            <a:off x="10789920" y="4032504"/>
            <a:ext cx="1143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0D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0.0%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9893808" y="4773168"/>
            <a:ext cx="2011680" cy="228600"/>
          </a:xfrm>
          <a:prstGeom prst="rect">
            <a:avLst/>
          </a:prstGeom>
          <a:solidFill>
            <a:srgbClr val="E8F5EE"/>
          </a:solidFill>
          <a:ln/>
        </p:spPr>
      </p:sp>
      <p:sp>
        <p:nvSpPr>
          <p:cNvPr id="80" name="Text 78"/>
          <p:cNvSpPr/>
          <p:nvPr/>
        </p:nvSpPr>
        <p:spPr>
          <a:xfrm>
            <a:off x="9893808" y="4791456"/>
            <a:ext cx="2011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LOWEST VOLUME</a:t>
            </a:r>
            <a:endParaRPr lang="en-US" sz="750" dirty="0"/>
          </a:p>
        </p:txBody>
      </p:sp>
      <p:sp>
        <p:nvSpPr>
          <p:cNvPr id="81" name="Shape 79"/>
          <p:cNvSpPr/>
          <p:nvPr/>
        </p:nvSpPr>
        <p:spPr>
          <a:xfrm>
            <a:off x="274320" y="5257800"/>
            <a:ext cx="11612880" cy="1325880"/>
          </a:xfrm>
          <a:prstGeom prst="rect">
            <a:avLst/>
          </a:prstGeom>
          <a:solidFill>
            <a:srgbClr val="0D1F1A"/>
          </a:solidFill>
          <a:ln/>
        </p:spPr>
      </p:sp>
      <p:sp>
        <p:nvSpPr>
          <p:cNvPr id="82" name="Text 80"/>
          <p:cNvSpPr/>
          <p:nvPr/>
        </p:nvSpPr>
        <p:spPr>
          <a:xfrm>
            <a:off x="457200" y="5349240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2EC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REGIONAL INSIGHT</a:t>
            </a:r>
            <a:endParaRPr lang="en-US" sz="900" dirty="0"/>
          </a:p>
        </p:txBody>
      </p:sp>
      <p:sp>
        <p:nvSpPr>
          <p:cNvPr id="83" name="Shape 81"/>
          <p:cNvSpPr/>
          <p:nvPr/>
        </p:nvSpPr>
        <p:spPr>
          <a:xfrm>
            <a:off x="457200" y="5742432"/>
            <a:ext cx="82296" cy="82296"/>
          </a:xfrm>
          <a:prstGeom prst="ellipse">
            <a:avLst/>
          </a:prstGeom>
          <a:solidFill>
            <a:srgbClr val="2EC47A"/>
          </a:solidFill>
          <a:ln/>
        </p:spPr>
      </p:sp>
      <p:sp>
        <p:nvSpPr>
          <p:cNvPr id="84" name="Text 82"/>
          <p:cNvSpPr/>
          <p:nvPr/>
        </p:nvSpPr>
        <p:spPr>
          <a:xfrm>
            <a:off x="621792" y="5687568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2EC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APAC: </a:t>
            </a:r>
            <a:endParaRPr lang="en-US" sz="900" dirty="0"/>
          </a:p>
        </p:txBody>
      </p:sp>
      <p:sp>
        <p:nvSpPr>
          <p:cNvPr id="85" name="Text 83"/>
          <p:cNvSpPr/>
          <p:nvPr/>
        </p:nvSpPr>
        <p:spPr>
          <a:xfrm>
            <a:off x="621792" y="5870448"/>
            <a:ext cx="34747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C8E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Australia alone emits 89.4M kg — 50% of Celonis' total. Long-haul intercontinental flights at business class are the primary driver.</a:t>
            </a:r>
            <a:endParaRPr lang="en-US" sz="850" dirty="0"/>
          </a:p>
        </p:txBody>
      </p:sp>
      <p:sp>
        <p:nvSpPr>
          <p:cNvPr id="86" name="Shape 84"/>
          <p:cNvSpPr/>
          <p:nvPr/>
        </p:nvSpPr>
        <p:spPr>
          <a:xfrm>
            <a:off x="4343400" y="5742432"/>
            <a:ext cx="82296" cy="82296"/>
          </a:xfrm>
          <a:prstGeom prst="ellipse">
            <a:avLst/>
          </a:prstGeom>
          <a:solidFill>
            <a:srgbClr val="2EC47A"/>
          </a:solidFill>
          <a:ln/>
        </p:spPr>
      </p:sp>
      <p:sp>
        <p:nvSpPr>
          <p:cNvPr id="87" name="Text 85"/>
          <p:cNvSpPr/>
          <p:nvPr/>
        </p:nvSpPr>
        <p:spPr>
          <a:xfrm>
            <a:off x="4507992" y="5687568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2EC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NA: </a:t>
            </a:r>
            <a:endParaRPr lang="en-US" sz="900" dirty="0"/>
          </a:p>
        </p:txBody>
      </p:sp>
      <p:sp>
        <p:nvSpPr>
          <p:cNvPr id="88" name="Text 86"/>
          <p:cNvSpPr/>
          <p:nvPr/>
        </p:nvSpPr>
        <p:spPr>
          <a:xfrm>
            <a:off x="4507992" y="5870448"/>
            <a:ext cx="34747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C8E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30.1% OOP rate (highest globally). Greater automation of pre-approval in US can prevent high-emission, non-compliant bookings.</a:t>
            </a:r>
            <a:endParaRPr lang="en-US" sz="850" dirty="0"/>
          </a:p>
        </p:txBody>
      </p:sp>
      <p:sp>
        <p:nvSpPr>
          <p:cNvPr id="89" name="Shape 87"/>
          <p:cNvSpPr/>
          <p:nvPr/>
        </p:nvSpPr>
        <p:spPr>
          <a:xfrm>
            <a:off x="8229600" y="5742432"/>
            <a:ext cx="82296" cy="82296"/>
          </a:xfrm>
          <a:prstGeom prst="ellipse">
            <a:avLst/>
          </a:prstGeom>
          <a:solidFill>
            <a:srgbClr val="2EC47A"/>
          </a:solidFill>
          <a:ln/>
        </p:spPr>
      </p:sp>
      <p:sp>
        <p:nvSpPr>
          <p:cNvPr id="90" name="Text 88"/>
          <p:cNvSpPr/>
          <p:nvPr/>
        </p:nvSpPr>
        <p:spPr>
          <a:xfrm>
            <a:off x="8394192" y="5687568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2EC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Europe: </a:t>
            </a:r>
            <a:endParaRPr lang="en-US" sz="900" dirty="0"/>
          </a:p>
        </p:txBody>
      </p:sp>
      <p:sp>
        <p:nvSpPr>
          <p:cNvPr id="91" name="Text 89"/>
          <p:cNvSpPr/>
          <p:nvPr/>
        </p:nvSpPr>
        <p:spPr>
          <a:xfrm>
            <a:off x="8394192" y="5870448"/>
            <a:ext cx="34747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C8E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0% High-Carbon trips, 601 kg avg CO₂ — enabled by rail availability. Europe proves that low-carbon travel at scale is achievable.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1143000"/>
          </a:xfrm>
          <a:prstGeom prst="rect">
            <a:avLst/>
          </a:prstGeom>
          <a:solidFill>
            <a:srgbClr val="0F5C3A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9144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Hotspot Identification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10058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EC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Question 3: Which regions, business units, and travel purposes drive disproportionate emissions?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274320" y="1261872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CO₂e by Business Unit (M kg)</a:t>
            </a:r>
            <a:endParaRPr lang="en-US" sz="1100" dirty="0"/>
          </a:p>
        </p:txBody>
      </p:sp>
      <p:graphicFrame>
        <p:nvGraphicFramePr>
          <p:cNvPr id="7" name="Chart 0"/>
          <p:cNvGraphicFramePr/>
          <p:nvPr/>
        </p:nvGraphicFramePr>
        <p:xfrm>
          <a:off x="274320" y="1572768"/>
          <a:ext cx="5394960" cy="2834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 5"/>
          <p:cNvSpPr/>
          <p:nvPr/>
        </p:nvSpPr>
        <p:spPr>
          <a:xfrm>
            <a:off x="5943600" y="1261872"/>
            <a:ext cx="6035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CO₂e by Trip Purpose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5943600" y="1627632"/>
            <a:ext cx="2926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53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Visit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5943600" y="1901952"/>
            <a:ext cx="4582241" cy="256032"/>
          </a:xfrm>
          <a:prstGeom prst="rect">
            <a:avLst/>
          </a:prstGeom>
          <a:solidFill>
            <a:srgbClr val="D64045"/>
          </a:solidFill>
          <a:ln/>
        </p:spPr>
      </p:sp>
      <p:sp>
        <p:nvSpPr>
          <p:cNvPr id="11" name="Shape 8"/>
          <p:cNvSpPr/>
          <p:nvPr/>
        </p:nvSpPr>
        <p:spPr>
          <a:xfrm>
            <a:off x="5943600" y="1901952"/>
            <a:ext cx="5303520" cy="256032"/>
          </a:xfrm>
          <a:prstGeom prst="rect">
            <a:avLst/>
          </a:prstGeom>
          <a:solidFill>
            <a:srgbClr val="FFFFFF">
              <a:alpha val="0"/>
            </a:srgbClr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1082528" y="1920240"/>
            <a:ext cx="1005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D640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76.9M kg (43.2%)</a:t>
            </a:r>
            <a:endParaRPr lang="en-US" sz="800" dirty="0"/>
          </a:p>
        </p:txBody>
      </p:sp>
      <p:sp>
        <p:nvSpPr>
          <p:cNvPr id="13" name="Text 10"/>
          <p:cNvSpPr/>
          <p:nvPr/>
        </p:nvSpPr>
        <p:spPr>
          <a:xfrm>
            <a:off x="5943600" y="2313432"/>
            <a:ext cx="2926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53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Conference/Exhibition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5943600" y="2587752"/>
            <a:ext cx="3754892" cy="256032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15" name="Shape 12"/>
          <p:cNvSpPr/>
          <p:nvPr/>
        </p:nvSpPr>
        <p:spPr>
          <a:xfrm>
            <a:off x="5943600" y="2587752"/>
            <a:ext cx="5303520" cy="256032"/>
          </a:xfrm>
          <a:prstGeom prst="rect">
            <a:avLst/>
          </a:prstGeom>
          <a:solidFill>
            <a:srgbClr val="FFFFFF">
              <a:alpha val="0"/>
            </a:srgbClr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11082528" y="2606040"/>
            <a:ext cx="1005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63M kg (35.4%)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5943600" y="2999232"/>
            <a:ext cx="2926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53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Business Trip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5943600" y="3273552"/>
            <a:ext cx="1219810" cy="256032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9" name="Shape 16"/>
          <p:cNvSpPr/>
          <p:nvPr/>
        </p:nvSpPr>
        <p:spPr>
          <a:xfrm>
            <a:off x="5943600" y="3273552"/>
            <a:ext cx="5303520" cy="256032"/>
          </a:xfrm>
          <a:prstGeom prst="rect">
            <a:avLst/>
          </a:prstGeom>
          <a:solidFill>
            <a:srgbClr val="FFFFFF">
              <a:alpha val="0"/>
            </a:srgbClr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11082528" y="3291840"/>
            <a:ext cx="1005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20.4M kg (11.5%)</a:t>
            </a:r>
            <a:endParaRPr lang="en-US" sz="800" dirty="0"/>
          </a:p>
        </p:txBody>
      </p:sp>
      <p:sp>
        <p:nvSpPr>
          <p:cNvPr id="21" name="Text 18"/>
          <p:cNvSpPr/>
          <p:nvPr/>
        </p:nvSpPr>
        <p:spPr>
          <a:xfrm>
            <a:off x="5943600" y="3685032"/>
            <a:ext cx="2926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53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Enablement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5943600" y="3959352"/>
            <a:ext cx="753100" cy="256032"/>
          </a:xfrm>
          <a:prstGeom prst="rect">
            <a:avLst/>
          </a:prstGeom>
          <a:solidFill>
            <a:srgbClr val="1A8A57"/>
          </a:solidFill>
          <a:ln/>
        </p:spPr>
      </p:sp>
      <p:sp>
        <p:nvSpPr>
          <p:cNvPr id="23" name="Shape 20"/>
          <p:cNvSpPr/>
          <p:nvPr/>
        </p:nvSpPr>
        <p:spPr>
          <a:xfrm>
            <a:off x="5943600" y="3959352"/>
            <a:ext cx="5303520" cy="256032"/>
          </a:xfrm>
          <a:prstGeom prst="rect">
            <a:avLst/>
          </a:prstGeom>
          <a:solidFill>
            <a:srgbClr val="FFFFFF">
              <a:alpha val="0"/>
            </a:srgbClr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11082528" y="3977640"/>
            <a:ext cx="1005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A8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12.6M kg (7.1%)</a:t>
            </a:r>
            <a:endParaRPr lang="en-US" sz="800" dirty="0"/>
          </a:p>
        </p:txBody>
      </p:sp>
      <p:sp>
        <p:nvSpPr>
          <p:cNvPr id="25" name="Text 22"/>
          <p:cNvSpPr/>
          <p:nvPr/>
        </p:nvSpPr>
        <p:spPr>
          <a:xfrm>
            <a:off x="5943600" y="4370832"/>
            <a:ext cx="2926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53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 Visit</a:t>
            </a:r>
            <a:endParaRPr lang="en-US" sz="950" dirty="0"/>
          </a:p>
        </p:txBody>
      </p:sp>
      <p:sp>
        <p:nvSpPr>
          <p:cNvPr id="26" name="Shape 23"/>
          <p:cNvSpPr/>
          <p:nvPr/>
        </p:nvSpPr>
        <p:spPr>
          <a:xfrm>
            <a:off x="5943600" y="4645152"/>
            <a:ext cx="296997" cy="256032"/>
          </a:xfrm>
          <a:prstGeom prst="rect">
            <a:avLst/>
          </a:prstGeom>
          <a:solidFill>
            <a:srgbClr val="2EC47A"/>
          </a:solidFill>
          <a:ln/>
        </p:spPr>
      </p:sp>
      <p:sp>
        <p:nvSpPr>
          <p:cNvPr id="27" name="Shape 24"/>
          <p:cNvSpPr/>
          <p:nvPr/>
        </p:nvSpPr>
        <p:spPr>
          <a:xfrm>
            <a:off x="5943600" y="4645152"/>
            <a:ext cx="5303520" cy="256032"/>
          </a:xfrm>
          <a:prstGeom prst="rect">
            <a:avLst/>
          </a:prstGeom>
          <a:solidFill>
            <a:srgbClr val="FFFFFF">
              <a:alpha val="0"/>
            </a:srgbClr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11082528" y="4663440"/>
            <a:ext cx="1005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2EC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5.1M kg (2.8%)</a:t>
            </a:r>
            <a:endParaRPr lang="en-US" sz="800" dirty="0"/>
          </a:p>
        </p:txBody>
      </p:sp>
      <p:sp>
        <p:nvSpPr>
          <p:cNvPr id="29" name="Shape 26"/>
          <p:cNvSpPr/>
          <p:nvPr/>
        </p:nvSpPr>
        <p:spPr>
          <a:xfrm>
            <a:off x="274320" y="4590288"/>
            <a:ext cx="11612880" cy="1993392"/>
          </a:xfrm>
          <a:prstGeom prst="rect">
            <a:avLst/>
          </a:prstGeom>
          <a:solidFill>
            <a:srgbClr val="E8F5EE"/>
          </a:solidFill>
          <a:ln w="12700">
            <a:solidFill>
              <a:srgbClr val="D4EDE0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457200" y="468172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D640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🔴 EMISSION HOTSPOTS</a:t>
            </a:r>
            <a:endParaRPr lang="en-US" sz="1000" dirty="0"/>
          </a:p>
        </p:txBody>
      </p:sp>
      <p:sp>
        <p:nvSpPr>
          <p:cNvPr id="31" name="Text 28"/>
          <p:cNvSpPr/>
          <p:nvPr/>
        </p:nvSpPr>
        <p:spPr>
          <a:xfrm>
            <a:off x="457200" y="5010912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000000"/>
                </a:solidFill>
              </a:rPr>
              <a:t>💼</a:t>
            </a:r>
            <a:endParaRPr lang="en-US" sz="1600" dirty="0"/>
          </a:p>
        </p:txBody>
      </p:sp>
      <p:sp>
        <p:nvSpPr>
          <p:cNvPr id="32" name="Text 29"/>
          <p:cNvSpPr/>
          <p:nvPr/>
        </p:nvSpPr>
        <p:spPr>
          <a:xfrm>
            <a:off x="841248" y="5010912"/>
            <a:ext cx="2423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D640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Class Flights</a:t>
            </a:r>
            <a:endParaRPr lang="en-US" sz="950" dirty="0"/>
          </a:p>
        </p:txBody>
      </p:sp>
      <p:sp>
        <p:nvSpPr>
          <p:cNvPr id="33" name="Text 30"/>
          <p:cNvSpPr/>
          <p:nvPr/>
        </p:nvSpPr>
        <p:spPr>
          <a:xfrm>
            <a:off x="475488" y="5303520"/>
            <a:ext cx="2788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53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48% OOP rate + 4,865 kg avg CO₂. Sales BU is the top booker.</a:t>
            </a:r>
            <a:endParaRPr lang="en-US" sz="850" dirty="0"/>
          </a:p>
        </p:txBody>
      </p:sp>
      <p:sp>
        <p:nvSpPr>
          <p:cNvPr id="34" name="Text 31"/>
          <p:cNvSpPr/>
          <p:nvPr/>
        </p:nvSpPr>
        <p:spPr>
          <a:xfrm>
            <a:off x="3383280" y="5010912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000000"/>
                </a:solidFill>
              </a:rPr>
              <a:t>🌏</a:t>
            </a:r>
            <a:endParaRPr lang="en-US" sz="1600" dirty="0"/>
          </a:p>
        </p:txBody>
      </p:sp>
      <p:sp>
        <p:nvSpPr>
          <p:cNvPr id="35" name="Text 32"/>
          <p:cNvSpPr/>
          <p:nvPr/>
        </p:nvSpPr>
        <p:spPr>
          <a:xfrm>
            <a:off x="3767328" y="5010912"/>
            <a:ext cx="2423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D640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APAC Long-Haul</a:t>
            </a:r>
            <a:endParaRPr lang="en-US" sz="950" dirty="0"/>
          </a:p>
        </p:txBody>
      </p:sp>
      <p:sp>
        <p:nvSpPr>
          <p:cNvPr id="36" name="Text 33"/>
          <p:cNvSpPr/>
          <p:nvPr/>
        </p:nvSpPr>
        <p:spPr>
          <a:xfrm>
            <a:off x="3401568" y="5303520"/>
            <a:ext cx="2788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53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 and CN combined = 65% of all emissions. All flights, no rail alternative.</a:t>
            </a:r>
            <a:endParaRPr lang="en-US" sz="850" dirty="0"/>
          </a:p>
        </p:txBody>
      </p:sp>
      <p:sp>
        <p:nvSpPr>
          <p:cNvPr id="37" name="Text 34"/>
          <p:cNvSpPr/>
          <p:nvPr/>
        </p:nvSpPr>
        <p:spPr>
          <a:xfrm>
            <a:off x="6309360" y="5010912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000000"/>
                </a:solidFill>
              </a:rPr>
              <a:t>👤</a:t>
            </a:r>
            <a:endParaRPr lang="en-US" sz="1600" dirty="0"/>
          </a:p>
        </p:txBody>
      </p:sp>
      <p:sp>
        <p:nvSpPr>
          <p:cNvPr id="38" name="Text 35"/>
          <p:cNvSpPr/>
          <p:nvPr/>
        </p:nvSpPr>
        <p:spPr>
          <a:xfrm>
            <a:off x="6693408" y="5010912"/>
            <a:ext cx="2423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D640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Visits</a:t>
            </a:r>
            <a:endParaRPr lang="en-US" sz="950" dirty="0"/>
          </a:p>
        </p:txBody>
      </p:sp>
      <p:sp>
        <p:nvSpPr>
          <p:cNvPr id="39" name="Text 36"/>
          <p:cNvSpPr/>
          <p:nvPr/>
        </p:nvSpPr>
        <p:spPr>
          <a:xfrm>
            <a:off x="6327648" y="5303520"/>
            <a:ext cx="2788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53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43% of total CO₂. Sales-driven urgency leads to premium class bookings.</a:t>
            </a:r>
            <a:endParaRPr lang="en-US" sz="850" dirty="0"/>
          </a:p>
        </p:txBody>
      </p:sp>
      <p:sp>
        <p:nvSpPr>
          <p:cNvPr id="40" name="Text 37"/>
          <p:cNvSpPr/>
          <p:nvPr/>
        </p:nvSpPr>
        <p:spPr>
          <a:xfrm>
            <a:off x="9235440" y="5010912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000000"/>
                </a:solidFill>
              </a:rPr>
              <a:t>⚠</a:t>
            </a:r>
            <a:endParaRPr lang="en-US" sz="1600" dirty="0"/>
          </a:p>
        </p:txBody>
      </p:sp>
      <p:sp>
        <p:nvSpPr>
          <p:cNvPr id="41" name="Text 38"/>
          <p:cNvSpPr/>
          <p:nvPr/>
        </p:nvSpPr>
        <p:spPr>
          <a:xfrm>
            <a:off x="9619488" y="5010912"/>
            <a:ext cx="2423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D640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Out-of-Policy</a:t>
            </a:r>
            <a:endParaRPr lang="en-US" sz="950" dirty="0"/>
          </a:p>
        </p:txBody>
      </p:sp>
      <p:sp>
        <p:nvSpPr>
          <p:cNvPr id="42" name="Text 39"/>
          <p:cNvSpPr/>
          <p:nvPr/>
        </p:nvSpPr>
        <p:spPr>
          <a:xfrm>
            <a:off x="9253728" y="5303520"/>
            <a:ext cx="2788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53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30.1% OOP — highest globally. Pre-approval gaps let high-carbon trips through.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1143000"/>
          </a:xfrm>
          <a:prstGeom prst="rect">
            <a:avLst/>
          </a:prstGeom>
          <a:solidFill>
            <a:srgbClr val="0F5C3A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9144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Pain Points &amp; Inefficiencies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10058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EC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Question 4: Where are the operational bottlenecks driving excess emissions?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96752" y="3371687"/>
            <a:ext cx="11612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F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 PROCESS FLOW — Volume at Each Stage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294288" y="1424015"/>
            <a:ext cx="1143000" cy="1965960"/>
          </a:xfrm>
          <a:prstGeom prst="rect">
            <a:avLst/>
          </a:prstGeom>
          <a:solidFill>
            <a:srgbClr val="1A8A57"/>
          </a:solidFill>
          <a:ln/>
        </p:spPr>
      </p:sp>
      <p:sp>
        <p:nvSpPr>
          <p:cNvPr id="8" name="Text 6"/>
          <p:cNvSpPr/>
          <p:nvPr/>
        </p:nvSpPr>
        <p:spPr>
          <a:xfrm>
            <a:off x="221136" y="3463127"/>
            <a:ext cx="129844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253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 Transport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294288" y="1167983"/>
            <a:ext cx="11430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A8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68K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1601880" y="1602649"/>
            <a:ext cx="1143000" cy="1787326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11" name="Text 9"/>
          <p:cNvSpPr/>
          <p:nvPr/>
        </p:nvSpPr>
        <p:spPr>
          <a:xfrm>
            <a:off x="1528728" y="3463127"/>
            <a:ext cx="129844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253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 Lodging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1601880" y="1346617"/>
            <a:ext cx="11430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60K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2909472" y="1485106"/>
            <a:ext cx="1143000" cy="1904869"/>
          </a:xfrm>
          <a:prstGeom prst="rect">
            <a:avLst/>
          </a:prstGeom>
          <a:solidFill>
            <a:srgbClr val="1A8A57"/>
          </a:solidFill>
          <a:ln/>
        </p:spPr>
      </p:sp>
      <p:sp>
        <p:nvSpPr>
          <p:cNvPr id="14" name="Text 12"/>
          <p:cNvSpPr/>
          <p:nvPr/>
        </p:nvSpPr>
        <p:spPr>
          <a:xfrm>
            <a:off x="2836320" y="3463127"/>
            <a:ext cx="129844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253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 Request</a:t>
            </a:r>
            <a:endParaRPr lang="en-US" sz="700" dirty="0"/>
          </a:p>
        </p:txBody>
      </p:sp>
      <p:sp>
        <p:nvSpPr>
          <p:cNvPr id="15" name="Text 13"/>
          <p:cNvSpPr/>
          <p:nvPr/>
        </p:nvSpPr>
        <p:spPr>
          <a:xfrm>
            <a:off x="2909472" y="1229074"/>
            <a:ext cx="11430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A8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65K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4217064" y="2643745"/>
            <a:ext cx="1143000" cy="746230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17" name="Text 15"/>
          <p:cNvSpPr/>
          <p:nvPr/>
        </p:nvSpPr>
        <p:spPr>
          <a:xfrm>
            <a:off x="4143912" y="3463127"/>
            <a:ext cx="129844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253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Manager Pre-Approve</a:t>
            </a:r>
            <a:endParaRPr lang="en-US" sz="700" dirty="0"/>
          </a:p>
        </p:txBody>
      </p:sp>
      <p:sp>
        <p:nvSpPr>
          <p:cNvPr id="18" name="Text 16"/>
          <p:cNvSpPr/>
          <p:nvPr/>
        </p:nvSpPr>
        <p:spPr>
          <a:xfrm>
            <a:off x="4217064" y="2387713"/>
            <a:ext cx="11430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11K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5524656" y="1534644"/>
            <a:ext cx="1143000" cy="1855331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20" name="Text 18"/>
          <p:cNvSpPr/>
          <p:nvPr/>
        </p:nvSpPr>
        <p:spPr>
          <a:xfrm>
            <a:off x="5451504" y="3463127"/>
            <a:ext cx="129844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253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Approved</a:t>
            </a:r>
            <a:endParaRPr lang="en-US" sz="700" dirty="0"/>
          </a:p>
        </p:txBody>
      </p:sp>
      <p:sp>
        <p:nvSpPr>
          <p:cNvPr id="21" name="Text 19"/>
          <p:cNvSpPr/>
          <p:nvPr/>
        </p:nvSpPr>
        <p:spPr>
          <a:xfrm>
            <a:off x="5524656" y="1278612"/>
            <a:ext cx="11430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63K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6832248" y="1990880"/>
            <a:ext cx="1143000" cy="1399095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23" name="Text 21"/>
          <p:cNvSpPr/>
          <p:nvPr/>
        </p:nvSpPr>
        <p:spPr>
          <a:xfrm>
            <a:off x="6759096" y="3463127"/>
            <a:ext cx="129844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253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</a:t>
            </a:r>
            <a:endParaRPr lang="en-US" sz="700" dirty="0"/>
          </a:p>
        </p:txBody>
      </p:sp>
      <p:sp>
        <p:nvSpPr>
          <p:cNvPr id="24" name="Text 22"/>
          <p:cNvSpPr/>
          <p:nvPr/>
        </p:nvSpPr>
        <p:spPr>
          <a:xfrm>
            <a:off x="6832248" y="1734848"/>
            <a:ext cx="11430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42K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8139840" y="1536340"/>
            <a:ext cx="1143000" cy="1853635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26" name="Text 24"/>
          <p:cNvSpPr/>
          <p:nvPr/>
        </p:nvSpPr>
        <p:spPr>
          <a:xfrm>
            <a:off x="8066688" y="3463127"/>
            <a:ext cx="129844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253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Expense Submit</a:t>
            </a:r>
            <a:endParaRPr lang="en-US" sz="700" dirty="0"/>
          </a:p>
        </p:txBody>
      </p:sp>
      <p:sp>
        <p:nvSpPr>
          <p:cNvPr id="27" name="Text 25"/>
          <p:cNvSpPr/>
          <p:nvPr/>
        </p:nvSpPr>
        <p:spPr>
          <a:xfrm>
            <a:off x="8139840" y="1280308"/>
            <a:ext cx="11430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63K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9447432" y="1537543"/>
            <a:ext cx="1143000" cy="1852432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29" name="Text 27"/>
          <p:cNvSpPr/>
          <p:nvPr/>
        </p:nvSpPr>
        <p:spPr>
          <a:xfrm>
            <a:off x="9374280" y="3463127"/>
            <a:ext cx="129844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253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Expense Approved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9447432" y="1281511"/>
            <a:ext cx="11430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63K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10755024" y="1537543"/>
            <a:ext cx="1143000" cy="1852432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32" name="Text 30"/>
          <p:cNvSpPr/>
          <p:nvPr/>
        </p:nvSpPr>
        <p:spPr>
          <a:xfrm>
            <a:off x="10681872" y="3463127"/>
            <a:ext cx="129844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253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Reimbursement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10755024" y="1281511"/>
            <a:ext cx="11430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63K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274320" y="3886200"/>
            <a:ext cx="3749040" cy="1143000"/>
          </a:xfrm>
          <a:prstGeom prst="rect">
            <a:avLst/>
          </a:prstGeom>
          <a:solidFill>
            <a:srgbClr val="F2FAF6"/>
          </a:solidFill>
          <a:ln w="12700">
            <a:solidFill>
              <a:srgbClr val="D4EDE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74320" y="3886200"/>
            <a:ext cx="182880" cy="1143000"/>
          </a:xfrm>
          <a:prstGeom prst="rect">
            <a:avLst/>
          </a:prstGeom>
          <a:solidFill>
            <a:srgbClr val="D64045"/>
          </a:solidFill>
          <a:ln/>
        </p:spPr>
      </p:sp>
      <p:sp>
        <p:nvSpPr>
          <p:cNvPr id="36" name="Text 34"/>
          <p:cNvSpPr/>
          <p:nvPr/>
        </p:nvSpPr>
        <p:spPr>
          <a:xfrm>
            <a:off x="548640" y="3959352"/>
            <a:ext cx="22860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D640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12,005</a:t>
            </a:r>
            <a:endParaRPr lang="en-US" sz="2600" dirty="0"/>
          </a:p>
        </p:txBody>
      </p:sp>
      <p:sp>
        <p:nvSpPr>
          <p:cNvPr id="37" name="Text 35"/>
          <p:cNvSpPr/>
          <p:nvPr/>
        </p:nvSpPr>
        <p:spPr>
          <a:xfrm>
            <a:off x="548640" y="4389120"/>
            <a:ext cx="3291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Out-of-Policy Trips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548640" y="4636008"/>
            <a:ext cx="3291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18.4% non-compliant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1,100 kg excess CO₂ each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4297680" y="3886200"/>
            <a:ext cx="3749040" cy="1143000"/>
          </a:xfrm>
          <a:prstGeom prst="rect">
            <a:avLst/>
          </a:prstGeom>
          <a:solidFill>
            <a:srgbClr val="F2FAF6"/>
          </a:solidFill>
          <a:ln w="12700">
            <a:solidFill>
              <a:srgbClr val="D4EDE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297680" y="3886200"/>
            <a:ext cx="182880" cy="1143000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41" name="Text 39"/>
          <p:cNvSpPr/>
          <p:nvPr/>
        </p:nvSpPr>
        <p:spPr>
          <a:xfrm>
            <a:off x="4572000" y="3959352"/>
            <a:ext cx="22860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2,441</a:t>
            </a:r>
            <a:endParaRPr lang="en-US" sz="2600" dirty="0"/>
          </a:p>
        </p:txBody>
      </p:sp>
      <p:sp>
        <p:nvSpPr>
          <p:cNvPr id="42" name="Text 40"/>
          <p:cNvSpPr/>
          <p:nvPr/>
        </p:nvSpPr>
        <p:spPr>
          <a:xfrm>
            <a:off x="4572000" y="4389120"/>
            <a:ext cx="3291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 of Transport Changes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4572000" y="4636008"/>
            <a:ext cx="3291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Booking wrong mode first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waste + rebooking emissions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8321040" y="3886200"/>
            <a:ext cx="3749040" cy="1143000"/>
          </a:xfrm>
          <a:prstGeom prst="rect">
            <a:avLst/>
          </a:prstGeom>
          <a:solidFill>
            <a:srgbClr val="F2FAF6"/>
          </a:solidFill>
          <a:ln w="12700">
            <a:solidFill>
              <a:srgbClr val="D4EDE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321040" y="3886200"/>
            <a:ext cx="182880" cy="1143000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46" name="Text 44"/>
          <p:cNvSpPr/>
          <p:nvPr/>
        </p:nvSpPr>
        <p:spPr>
          <a:xfrm>
            <a:off x="8595360" y="3959352"/>
            <a:ext cx="22860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11,691</a:t>
            </a:r>
            <a:endParaRPr lang="en-US" sz="2600" dirty="0"/>
          </a:p>
        </p:txBody>
      </p:sp>
      <p:sp>
        <p:nvSpPr>
          <p:cNvPr id="47" name="Text 45"/>
          <p:cNvSpPr/>
          <p:nvPr/>
        </p:nvSpPr>
        <p:spPr>
          <a:xfrm>
            <a:off x="8595360" y="4389120"/>
            <a:ext cx="3291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Trips with Changes/Edits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8595360" y="4636008"/>
            <a:ext cx="3291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17.9% of all trips modified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Last-minute changes = premium prices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274320" y="5166360"/>
            <a:ext cx="3749040" cy="1143000"/>
          </a:xfrm>
          <a:prstGeom prst="rect">
            <a:avLst/>
          </a:prstGeom>
          <a:solidFill>
            <a:srgbClr val="F2FAF6"/>
          </a:solidFill>
          <a:ln w="12700">
            <a:solidFill>
              <a:srgbClr val="D4EDE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274320" y="5166360"/>
            <a:ext cx="182880" cy="114300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51" name="Text 49"/>
          <p:cNvSpPr/>
          <p:nvPr/>
        </p:nvSpPr>
        <p:spPr>
          <a:xfrm>
            <a:off x="548640" y="5239512"/>
            <a:ext cx="22860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9.2%</a:t>
            </a:r>
            <a:endParaRPr lang="en-US" sz="2600" dirty="0"/>
          </a:p>
        </p:txBody>
      </p:sp>
      <p:sp>
        <p:nvSpPr>
          <p:cNvPr id="52" name="Text 50"/>
          <p:cNvSpPr/>
          <p:nvPr/>
        </p:nvSpPr>
        <p:spPr>
          <a:xfrm>
            <a:off x="548640" y="5669280"/>
            <a:ext cx="3291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Trip Extensions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548640" y="5916168"/>
            <a:ext cx="3291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5,989 extensions approved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carbon impact review at extension</a:t>
            </a:r>
            <a:endParaRPr lang="en-US" sz="800" dirty="0"/>
          </a:p>
        </p:txBody>
      </p:sp>
      <p:sp>
        <p:nvSpPr>
          <p:cNvPr id="54" name="Shape 52"/>
          <p:cNvSpPr/>
          <p:nvPr/>
        </p:nvSpPr>
        <p:spPr>
          <a:xfrm>
            <a:off x="4297680" y="5166360"/>
            <a:ext cx="3749040" cy="1143000"/>
          </a:xfrm>
          <a:prstGeom prst="rect">
            <a:avLst/>
          </a:prstGeom>
          <a:solidFill>
            <a:srgbClr val="F2FAF6"/>
          </a:solidFill>
          <a:ln w="12700">
            <a:solidFill>
              <a:srgbClr val="D4EDE0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4297680" y="5166360"/>
            <a:ext cx="182880" cy="114300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56" name="Text 54"/>
          <p:cNvSpPr/>
          <p:nvPr/>
        </p:nvSpPr>
        <p:spPr>
          <a:xfrm>
            <a:off x="4572000" y="5239512"/>
            <a:ext cx="22860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3,993</a:t>
            </a:r>
            <a:endParaRPr lang="en-US" sz="2600" dirty="0"/>
          </a:p>
        </p:txBody>
      </p:sp>
      <p:sp>
        <p:nvSpPr>
          <p:cNvPr id="57" name="Text 55"/>
          <p:cNvSpPr/>
          <p:nvPr/>
        </p:nvSpPr>
        <p:spPr>
          <a:xfrm>
            <a:off x="4572000" y="5669280"/>
            <a:ext cx="3291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Disrupted Trips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4572000" y="5916168"/>
            <a:ext cx="3291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6.1% face cancellations/delays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Missed flights = rebooking in higher class</a:t>
            </a:r>
            <a:endParaRPr lang="en-US" sz="800" dirty="0"/>
          </a:p>
        </p:txBody>
      </p:sp>
      <p:sp>
        <p:nvSpPr>
          <p:cNvPr id="59" name="Shape 57"/>
          <p:cNvSpPr/>
          <p:nvPr/>
        </p:nvSpPr>
        <p:spPr>
          <a:xfrm>
            <a:off x="8321040" y="5166360"/>
            <a:ext cx="3749040" cy="1143000"/>
          </a:xfrm>
          <a:prstGeom prst="rect">
            <a:avLst/>
          </a:prstGeom>
          <a:solidFill>
            <a:srgbClr val="F2FAF6"/>
          </a:solidFill>
          <a:ln w="12700">
            <a:solidFill>
              <a:srgbClr val="D4EDE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8321040" y="5166360"/>
            <a:ext cx="182880" cy="1143000"/>
          </a:xfrm>
          <a:prstGeom prst="rect">
            <a:avLst/>
          </a:prstGeom>
          <a:solidFill>
            <a:srgbClr val="D64045"/>
          </a:solidFill>
          <a:ln/>
        </p:spPr>
      </p:sp>
      <p:sp>
        <p:nvSpPr>
          <p:cNvPr id="61" name="Text 59"/>
          <p:cNvSpPr/>
          <p:nvPr/>
        </p:nvSpPr>
        <p:spPr>
          <a:xfrm>
            <a:off x="8595360" y="5239512"/>
            <a:ext cx="22860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D640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47%</a:t>
            </a:r>
            <a:endParaRPr lang="en-US" sz="2600" dirty="0"/>
          </a:p>
        </p:txBody>
      </p:sp>
      <p:sp>
        <p:nvSpPr>
          <p:cNvPr id="62" name="Text 60"/>
          <p:cNvSpPr/>
          <p:nvPr/>
        </p:nvSpPr>
        <p:spPr>
          <a:xfrm>
            <a:off x="8595360" y="5669280"/>
            <a:ext cx="3291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 Trips are OOP</a:t>
            </a:r>
            <a:endParaRPr lang="en-US" sz="1000" dirty="0"/>
          </a:p>
        </p:txBody>
      </p:sp>
      <p:sp>
        <p:nvSpPr>
          <p:cNvPr id="63" name="Text 61"/>
          <p:cNvSpPr/>
          <p:nvPr/>
        </p:nvSpPr>
        <p:spPr>
          <a:xfrm>
            <a:off x="8595360" y="5916168"/>
            <a:ext cx="3291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Class has highest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non-compliance rate of any mode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1143000"/>
          </a:xfrm>
          <a:prstGeom prst="rect">
            <a:avLst/>
          </a:prstGeom>
          <a:solidFill>
            <a:srgbClr val="0F5C3A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9144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Actionable Recommendations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10058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EC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Question 5: What specific policy updates should be made and what value will they generate over 3 years?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28600" y="1261872"/>
            <a:ext cx="5760720" cy="2514600"/>
          </a:xfrm>
          <a:prstGeom prst="rect">
            <a:avLst/>
          </a:prstGeom>
          <a:solidFill>
            <a:srgbClr val="F2FAF6"/>
          </a:solidFill>
          <a:ln w="12700">
            <a:solidFill>
              <a:srgbClr val="D4ED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28600" y="1261872"/>
            <a:ext cx="5760720" cy="457200"/>
          </a:xfrm>
          <a:prstGeom prst="rect">
            <a:avLst/>
          </a:prstGeom>
          <a:solidFill>
            <a:srgbClr val="D64045"/>
          </a:solidFill>
          <a:ln/>
        </p:spPr>
      </p:sp>
      <p:sp>
        <p:nvSpPr>
          <p:cNvPr id="8" name="Text 6"/>
          <p:cNvSpPr/>
          <p:nvPr/>
        </p:nvSpPr>
        <p:spPr>
          <a:xfrm>
            <a:off x="365760" y="1307592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✈ Economy-First Flight Policy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617720" y="1325880"/>
            <a:ext cx="1234440" cy="320040"/>
          </a:xfrm>
          <a:prstGeom prst="rect">
            <a:avLst/>
          </a:prstGeom>
          <a:solidFill>
            <a:srgbClr val="D4EDE0"/>
          </a:solidFill>
          <a:ln/>
        </p:spPr>
      </p:sp>
      <p:sp>
        <p:nvSpPr>
          <p:cNvPr id="10" name="Text 8"/>
          <p:cNvSpPr/>
          <p:nvPr/>
        </p:nvSpPr>
        <p:spPr>
          <a:xfrm>
            <a:off x="4636008" y="1353312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34.7M kg/yr saved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393192" y="1828800"/>
            <a:ext cx="82296" cy="82296"/>
          </a:xfrm>
          <a:prstGeom prst="ellipse">
            <a:avLst/>
          </a:prstGeom>
          <a:solidFill>
            <a:srgbClr val="D64045"/>
          </a:solidFill>
          <a:ln/>
        </p:spPr>
      </p:sp>
      <p:sp>
        <p:nvSpPr>
          <p:cNvPr id="12" name="Text 10"/>
          <p:cNvSpPr/>
          <p:nvPr/>
        </p:nvSpPr>
        <p:spPr>
          <a:xfrm>
            <a:off x="557784" y="1773936"/>
            <a:ext cx="5257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53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Mandate Economy Class for all trips by default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393192" y="2304288"/>
            <a:ext cx="82296" cy="82296"/>
          </a:xfrm>
          <a:prstGeom prst="ellipse">
            <a:avLst/>
          </a:prstGeom>
          <a:solidFill>
            <a:srgbClr val="D64045"/>
          </a:solidFill>
          <a:ln/>
        </p:spPr>
      </p:sp>
      <p:sp>
        <p:nvSpPr>
          <p:cNvPr id="14" name="Text 12"/>
          <p:cNvSpPr/>
          <p:nvPr/>
        </p:nvSpPr>
        <p:spPr>
          <a:xfrm>
            <a:off x="557784" y="2249424"/>
            <a:ext cx="5257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53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Class requires VP+ sign-off + justification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393192" y="2779776"/>
            <a:ext cx="82296" cy="82296"/>
          </a:xfrm>
          <a:prstGeom prst="ellipse">
            <a:avLst/>
          </a:prstGeom>
          <a:solidFill>
            <a:srgbClr val="D64045"/>
          </a:solidFill>
          <a:ln/>
        </p:spPr>
      </p:sp>
      <p:sp>
        <p:nvSpPr>
          <p:cNvPr id="16" name="Text 14"/>
          <p:cNvSpPr/>
          <p:nvPr/>
        </p:nvSpPr>
        <p:spPr>
          <a:xfrm>
            <a:off x="557784" y="2724912"/>
            <a:ext cx="5257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53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flag at booking stage if premium class selected without approval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365760" y="3364992"/>
            <a:ext cx="5486400" cy="320040"/>
          </a:xfrm>
          <a:prstGeom prst="rect">
            <a:avLst/>
          </a:prstGeom>
          <a:solidFill>
            <a:srgbClr val="E8F5EE"/>
          </a:solidFill>
          <a:ln/>
        </p:spPr>
      </p:sp>
      <p:sp>
        <p:nvSpPr>
          <p:cNvPr id="18" name="Text 16"/>
          <p:cNvSpPr/>
          <p:nvPr/>
        </p:nvSpPr>
        <p:spPr>
          <a:xfrm>
            <a:off x="411480" y="3392424"/>
            <a:ext cx="5394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i="1" dirty="0">
                <a:solidFill>
                  <a:srgbClr val="D640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Business Class → Economy: 15,035 trips × (4,865−2,555) = 34.7M kg/yr</a:t>
            </a:r>
            <a:endParaRPr lang="en-US" sz="750" dirty="0"/>
          </a:p>
        </p:txBody>
      </p:sp>
      <p:sp>
        <p:nvSpPr>
          <p:cNvPr id="19" name="Shape 17"/>
          <p:cNvSpPr/>
          <p:nvPr/>
        </p:nvSpPr>
        <p:spPr>
          <a:xfrm>
            <a:off x="6217920" y="1261872"/>
            <a:ext cx="5760720" cy="2514600"/>
          </a:xfrm>
          <a:prstGeom prst="rect">
            <a:avLst/>
          </a:prstGeom>
          <a:solidFill>
            <a:srgbClr val="F2FAF6"/>
          </a:solidFill>
          <a:ln w="12700">
            <a:solidFill>
              <a:srgbClr val="D4ED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17920" y="1261872"/>
            <a:ext cx="5760720" cy="457200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21" name="Text 19"/>
          <p:cNvSpPr/>
          <p:nvPr/>
        </p:nvSpPr>
        <p:spPr>
          <a:xfrm>
            <a:off x="6355080" y="1307592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 AI-Powered OOP Prevention Gate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10607040" y="1325880"/>
            <a:ext cx="1234440" cy="320040"/>
          </a:xfrm>
          <a:prstGeom prst="rect">
            <a:avLst/>
          </a:prstGeom>
          <a:solidFill>
            <a:srgbClr val="D4EDE0"/>
          </a:solidFill>
          <a:ln/>
        </p:spPr>
      </p:sp>
      <p:sp>
        <p:nvSpPr>
          <p:cNvPr id="23" name="Text 21"/>
          <p:cNvSpPr/>
          <p:nvPr/>
        </p:nvSpPr>
        <p:spPr>
          <a:xfrm>
            <a:off x="10625328" y="1353312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13.2M kg/yr saved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6382512" y="1828800"/>
            <a:ext cx="82296" cy="82296"/>
          </a:xfrm>
          <a:prstGeom prst="ellipse">
            <a:avLst/>
          </a:prstGeom>
          <a:solidFill>
            <a:srgbClr val="F5A623"/>
          </a:solidFill>
          <a:ln/>
        </p:spPr>
      </p:sp>
      <p:sp>
        <p:nvSpPr>
          <p:cNvPr id="25" name="Text 23"/>
          <p:cNvSpPr/>
          <p:nvPr/>
        </p:nvSpPr>
        <p:spPr>
          <a:xfrm>
            <a:off x="6547104" y="1773936"/>
            <a:ext cx="5257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53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Celonis AI agent at booking submission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6382512" y="2304288"/>
            <a:ext cx="82296" cy="82296"/>
          </a:xfrm>
          <a:prstGeom prst="ellipse">
            <a:avLst/>
          </a:prstGeom>
          <a:solidFill>
            <a:srgbClr val="F5A623"/>
          </a:solidFill>
          <a:ln/>
        </p:spPr>
      </p:sp>
      <p:sp>
        <p:nvSpPr>
          <p:cNvPr id="27" name="Text 25"/>
          <p:cNvSpPr/>
          <p:nvPr/>
        </p:nvSpPr>
        <p:spPr>
          <a:xfrm>
            <a:off x="6547104" y="2249424"/>
            <a:ext cx="5257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53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Auto-reject OOP requests without pre-approval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6382512" y="2779776"/>
            <a:ext cx="82296" cy="82296"/>
          </a:xfrm>
          <a:prstGeom prst="ellipse">
            <a:avLst/>
          </a:prstGeom>
          <a:solidFill>
            <a:srgbClr val="F5A623"/>
          </a:solidFill>
          <a:ln/>
        </p:spPr>
      </p:sp>
      <p:sp>
        <p:nvSpPr>
          <p:cNvPr id="29" name="Text 27"/>
          <p:cNvSpPr/>
          <p:nvPr/>
        </p:nvSpPr>
        <p:spPr>
          <a:xfrm>
            <a:off x="6547104" y="2724912"/>
            <a:ext cx="5257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53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carbon score shown before confirmation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6355080" y="3364992"/>
            <a:ext cx="5486400" cy="320040"/>
          </a:xfrm>
          <a:prstGeom prst="rect">
            <a:avLst/>
          </a:prstGeom>
          <a:solidFill>
            <a:srgbClr val="E8F5EE"/>
          </a:solidFill>
          <a:ln/>
        </p:spPr>
      </p:sp>
      <p:sp>
        <p:nvSpPr>
          <p:cNvPr id="31" name="Text 29"/>
          <p:cNvSpPr/>
          <p:nvPr/>
        </p:nvSpPr>
        <p:spPr>
          <a:xfrm>
            <a:off x="6400800" y="3392424"/>
            <a:ext cx="5394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i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12,005 OOP trips × 1,100 kg excess = 13.2M kg/yr recovered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228600" y="3959352"/>
            <a:ext cx="5760720" cy="2514600"/>
          </a:xfrm>
          <a:prstGeom prst="rect">
            <a:avLst/>
          </a:prstGeom>
          <a:solidFill>
            <a:srgbClr val="F2FAF6"/>
          </a:solidFill>
          <a:ln w="12700">
            <a:solidFill>
              <a:srgbClr val="D4EDE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8600" y="3959352"/>
            <a:ext cx="5760720" cy="457200"/>
          </a:xfrm>
          <a:prstGeom prst="rect">
            <a:avLst/>
          </a:prstGeom>
          <a:solidFill>
            <a:srgbClr val="0F5C3A"/>
          </a:solidFill>
          <a:ln/>
        </p:spPr>
      </p:sp>
      <p:sp>
        <p:nvSpPr>
          <p:cNvPr id="34" name="Text 32"/>
          <p:cNvSpPr/>
          <p:nvPr/>
        </p:nvSpPr>
        <p:spPr>
          <a:xfrm>
            <a:off x="365760" y="4005072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🚂 Rail-First for Intra-Europe Routes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4617720" y="4023360"/>
            <a:ext cx="1234440" cy="320040"/>
          </a:xfrm>
          <a:prstGeom prst="rect">
            <a:avLst/>
          </a:prstGeom>
          <a:solidFill>
            <a:srgbClr val="D4EDE0"/>
          </a:solidFill>
          <a:ln/>
        </p:spPr>
      </p:sp>
      <p:sp>
        <p:nvSpPr>
          <p:cNvPr id="36" name="Text 34"/>
          <p:cNvSpPr/>
          <p:nvPr/>
        </p:nvSpPr>
        <p:spPr>
          <a:xfrm>
            <a:off x="4636008" y="4050792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4.1M kg/yr saved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393192" y="4526280"/>
            <a:ext cx="82296" cy="82296"/>
          </a:xfrm>
          <a:prstGeom prst="ellipse">
            <a:avLst/>
          </a:prstGeom>
          <a:solidFill>
            <a:srgbClr val="0F5C3A"/>
          </a:solidFill>
          <a:ln/>
        </p:spPr>
      </p:sp>
      <p:sp>
        <p:nvSpPr>
          <p:cNvPr id="38" name="Text 36"/>
          <p:cNvSpPr/>
          <p:nvPr/>
        </p:nvSpPr>
        <p:spPr>
          <a:xfrm>
            <a:off x="557784" y="4471416"/>
            <a:ext cx="5257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53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EU intra-continental routes &lt;6hr → mandatory train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393192" y="5001768"/>
            <a:ext cx="82296" cy="82296"/>
          </a:xfrm>
          <a:prstGeom prst="ellipse">
            <a:avLst/>
          </a:prstGeom>
          <a:solidFill>
            <a:srgbClr val="0F5C3A"/>
          </a:solidFill>
          <a:ln/>
        </p:spPr>
      </p:sp>
      <p:sp>
        <p:nvSpPr>
          <p:cNvPr id="40" name="Text 38"/>
          <p:cNvSpPr/>
          <p:nvPr/>
        </p:nvSpPr>
        <p:spPr>
          <a:xfrm>
            <a:off x="557784" y="4946904"/>
            <a:ext cx="5257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53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Celonis workflow auto-routes to rail options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393192" y="5477256"/>
            <a:ext cx="82296" cy="82296"/>
          </a:xfrm>
          <a:prstGeom prst="ellipse">
            <a:avLst/>
          </a:prstGeom>
          <a:solidFill>
            <a:srgbClr val="0F5C3A"/>
          </a:solidFill>
          <a:ln/>
        </p:spPr>
      </p:sp>
      <p:sp>
        <p:nvSpPr>
          <p:cNvPr id="42" name="Text 40"/>
          <p:cNvSpPr/>
          <p:nvPr/>
        </p:nvSpPr>
        <p:spPr>
          <a:xfrm>
            <a:off x="557784" y="5422392"/>
            <a:ext cx="5257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53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CO₂ = 445 kg vs 2,554 kg economy flight (5.7x)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365760" y="6062472"/>
            <a:ext cx="5486400" cy="320040"/>
          </a:xfrm>
          <a:prstGeom prst="rect">
            <a:avLst/>
          </a:prstGeom>
          <a:solidFill>
            <a:srgbClr val="E8F5EE"/>
          </a:solidFill>
          <a:ln/>
        </p:spPr>
      </p:sp>
      <p:sp>
        <p:nvSpPr>
          <p:cNvPr id="44" name="Text 42"/>
          <p:cNvSpPr/>
          <p:nvPr/>
        </p:nvSpPr>
        <p:spPr>
          <a:xfrm>
            <a:off x="411480" y="6089904"/>
            <a:ext cx="5394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i="1" dirty="0">
                <a:solidFill>
                  <a:srgbClr val="0F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European flights → train conversion; 0% high-carbon in Europe proves rail works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6217920" y="3959352"/>
            <a:ext cx="5760720" cy="2514600"/>
          </a:xfrm>
          <a:prstGeom prst="rect">
            <a:avLst/>
          </a:prstGeom>
          <a:solidFill>
            <a:srgbClr val="F2FAF6"/>
          </a:solidFill>
          <a:ln w="12700">
            <a:solidFill>
              <a:srgbClr val="D4EDE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6217920" y="3959352"/>
            <a:ext cx="5760720" cy="457200"/>
          </a:xfrm>
          <a:prstGeom prst="rect">
            <a:avLst/>
          </a:prstGeom>
          <a:solidFill>
            <a:srgbClr val="1A8A57"/>
          </a:solidFill>
          <a:ln/>
        </p:spPr>
      </p:sp>
      <p:sp>
        <p:nvSpPr>
          <p:cNvPr id="47" name="Text 45"/>
          <p:cNvSpPr/>
          <p:nvPr/>
        </p:nvSpPr>
        <p:spPr>
          <a:xfrm>
            <a:off x="6355080" y="4005072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EV Rental Standard in Target Markets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10607040" y="4023360"/>
            <a:ext cx="1234440" cy="320040"/>
          </a:xfrm>
          <a:prstGeom prst="rect">
            <a:avLst/>
          </a:prstGeom>
          <a:solidFill>
            <a:srgbClr val="D4EDE0"/>
          </a:solidFill>
          <a:ln/>
        </p:spPr>
      </p:sp>
      <p:sp>
        <p:nvSpPr>
          <p:cNvPr id="49" name="Text 47"/>
          <p:cNvSpPr/>
          <p:nvPr/>
        </p:nvSpPr>
        <p:spPr>
          <a:xfrm>
            <a:off x="10625328" y="4050792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2.4M kg/yr saved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6382512" y="4526280"/>
            <a:ext cx="82296" cy="82296"/>
          </a:xfrm>
          <a:prstGeom prst="ellipse">
            <a:avLst/>
          </a:prstGeom>
          <a:solidFill>
            <a:srgbClr val="1A8A57"/>
          </a:solidFill>
          <a:ln/>
        </p:spPr>
      </p:sp>
      <p:sp>
        <p:nvSpPr>
          <p:cNvPr id="51" name="Text 49"/>
          <p:cNvSpPr/>
          <p:nvPr/>
        </p:nvSpPr>
        <p:spPr>
          <a:xfrm>
            <a:off x="6547104" y="4471416"/>
            <a:ext cx="5257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53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BMW/VW diesel fleet cars with EV where available</a:t>
            </a:r>
            <a:endParaRPr lang="en-US" sz="950" dirty="0"/>
          </a:p>
        </p:txBody>
      </p:sp>
      <p:sp>
        <p:nvSpPr>
          <p:cNvPr id="52" name="Shape 50"/>
          <p:cNvSpPr/>
          <p:nvPr/>
        </p:nvSpPr>
        <p:spPr>
          <a:xfrm>
            <a:off x="6382512" y="5001768"/>
            <a:ext cx="82296" cy="82296"/>
          </a:xfrm>
          <a:prstGeom prst="ellipse">
            <a:avLst/>
          </a:prstGeom>
          <a:solidFill>
            <a:srgbClr val="1A8A57"/>
          </a:solidFill>
          <a:ln/>
        </p:spPr>
      </p:sp>
      <p:sp>
        <p:nvSpPr>
          <p:cNvPr id="53" name="Text 51"/>
          <p:cNvSpPr/>
          <p:nvPr/>
        </p:nvSpPr>
        <p:spPr>
          <a:xfrm>
            <a:off x="6547104" y="4946904"/>
            <a:ext cx="5257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53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Fiat EV = 1,066 kg vs BMW diesel 1,664 kg (36% lower)</a:t>
            </a:r>
            <a:endParaRPr lang="en-US" sz="950" dirty="0"/>
          </a:p>
        </p:txBody>
      </p:sp>
      <p:sp>
        <p:nvSpPr>
          <p:cNvPr id="54" name="Shape 52"/>
          <p:cNvSpPr/>
          <p:nvPr/>
        </p:nvSpPr>
        <p:spPr>
          <a:xfrm>
            <a:off x="6382512" y="5477256"/>
            <a:ext cx="82296" cy="82296"/>
          </a:xfrm>
          <a:prstGeom prst="ellipse">
            <a:avLst/>
          </a:prstGeom>
          <a:solidFill>
            <a:srgbClr val="1A8A57"/>
          </a:solidFill>
          <a:ln/>
        </p:spPr>
      </p:sp>
      <p:sp>
        <p:nvSpPr>
          <p:cNvPr id="55" name="Text 53"/>
          <p:cNvSpPr/>
          <p:nvPr/>
        </p:nvSpPr>
        <p:spPr>
          <a:xfrm>
            <a:off x="6547104" y="5422392"/>
            <a:ext cx="5257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53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diesel cars out of UK, DE, NL by 2026</a:t>
            </a:r>
            <a:endParaRPr lang="en-US" sz="950" dirty="0"/>
          </a:p>
        </p:txBody>
      </p:sp>
      <p:sp>
        <p:nvSpPr>
          <p:cNvPr id="56" name="Shape 54"/>
          <p:cNvSpPr/>
          <p:nvPr/>
        </p:nvSpPr>
        <p:spPr>
          <a:xfrm>
            <a:off x="6355080" y="6062472"/>
            <a:ext cx="5486400" cy="320040"/>
          </a:xfrm>
          <a:prstGeom prst="rect">
            <a:avLst/>
          </a:prstGeom>
          <a:solidFill>
            <a:srgbClr val="E8F5EE"/>
          </a:solidFill>
          <a:ln/>
        </p:spPr>
      </p:sp>
      <p:sp>
        <p:nvSpPr>
          <p:cNvPr id="57" name="Text 55"/>
          <p:cNvSpPr/>
          <p:nvPr/>
        </p:nvSpPr>
        <p:spPr>
          <a:xfrm>
            <a:off x="6400800" y="6089904"/>
            <a:ext cx="5394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i="1" dirty="0">
                <a:solidFill>
                  <a:srgbClr val="1A8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6,648 diesel rentals × 598 kg avg difference = 3.97M kg potential</a:t>
            </a:r>
            <a:endParaRPr lang="en-US" sz="7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1143000"/>
          </a:xfrm>
          <a:prstGeom prst="rect">
            <a:avLst/>
          </a:prstGeom>
          <a:solidFill>
            <a:srgbClr val="0F5C3A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9144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Strategic Roadmap to Net Zero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10058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EC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3-Year Implementation Timeline &amp; Projected Carbon Impact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74320" y="1298448"/>
            <a:ext cx="3749040" cy="502920"/>
          </a:xfrm>
          <a:prstGeom prst="rect">
            <a:avLst/>
          </a:prstGeom>
          <a:solidFill>
            <a:srgbClr val="D64045"/>
          </a:solidFill>
          <a:ln/>
        </p:spPr>
      </p:sp>
      <p:sp>
        <p:nvSpPr>
          <p:cNvPr id="7" name="Text 5"/>
          <p:cNvSpPr/>
          <p:nvPr/>
        </p:nvSpPr>
        <p:spPr>
          <a:xfrm>
            <a:off x="365760" y="1316736"/>
            <a:ext cx="8229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188720" y="1389888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WINS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023360" y="1545336"/>
            <a:ext cx="228600" cy="0"/>
          </a:xfrm>
          <a:prstGeom prst="line">
            <a:avLst/>
          </a:prstGeom>
          <a:noFill/>
          <a:ln w="25400">
            <a:solidFill>
              <a:srgbClr val="D6404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74320" y="1828800"/>
            <a:ext cx="3749040" cy="2926080"/>
          </a:xfrm>
          <a:prstGeom prst="rect">
            <a:avLst/>
          </a:prstGeom>
          <a:solidFill>
            <a:srgbClr val="F2FAF6"/>
          </a:solidFill>
          <a:ln w="12700">
            <a:solidFill>
              <a:srgbClr val="D4EDE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38912" y="1993392"/>
            <a:ext cx="82296" cy="82296"/>
          </a:xfrm>
          <a:prstGeom prst="ellipse">
            <a:avLst/>
          </a:prstGeom>
          <a:solidFill>
            <a:srgbClr val="D64045"/>
          </a:solidFill>
          <a:ln/>
        </p:spPr>
      </p:sp>
      <p:sp>
        <p:nvSpPr>
          <p:cNvPr id="12" name="Text 10"/>
          <p:cNvSpPr/>
          <p:nvPr/>
        </p:nvSpPr>
        <p:spPr>
          <a:xfrm>
            <a:off x="603504" y="1938528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53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Celonis AI booking gate (OOP block)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38912" y="2651760"/>
            <a:ext cx="82296" cy="82296"/>
          </a:xfrm>
          <a:prstGeom prst="ellipse">
            <a:avLst/>
          </a:prstGeom>
          <a:solidFill>
            <a:srgbClr val="D64045"/>
          </a:solidFill>
          <a:ln/>
        </p:spPr>
      </p:sp>
      <p:sp>
        <p:nvSpPr>
          <p:cNvPr id="14" name="Text 12"/>
          <p:cNvSpPr/>
          <p:nvPr/>
        </p:nvSpPr>
        <p:spPr>
          <a:xfrm>
            <a:off x="603504" y="2596896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53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Economy-class default policy enforced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438912" y="3310128"/>
            <a:ext cx="82296" cy="82296"/>
          </a:xfrm>
          <a:prstGeom prst="ellipse">
            <a:avLst/>
          </a:prstGeom>
          <a:solidFill>
            <a:srgbClr val="D64045"/>
          </a:solidFill>
          <a:ln/>
        </p:spPr>
      </p:sp>
      <p:sp>
        <p:nvSpPr>
          <p:cNvPr id="16" name="Text 14"/>
          <p:cNvSpPr/>
          <p:nvPr/>
        </p:nvSpPr>
        <p:spPr>
          <a:xfrm>
            <a:off x="603504" y="3255264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53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Carbon score shown at all booking touchpoints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38912" y="3968496"/>
            <a:ext cx="82296" cy="82296"/>
          </a:xfrm>
          <a:prstGeom prst="ellipse">
            <a:avLst/>
          </a:prstGeom>
          <a:solidFill>
            <a:srgbClr val="D64045"/>
          </a:solidFill>
          <a:ln/>
        </p:spPr>
      </p:sp>
      <p:sp>
        <p:nvSpPr>
          <p:cNvPr id="18" name="Text 16"/>
          <p:cNvSpPr/>
          <p:nvPr/>
        </p:nvSpPr>
        <p:spPr>
          <a:xfrm>
            <a:off x="603504" y="3913632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53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Rail-first mandate for EU corridors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274320" y="4791456"/>
            <a:ext cx="3749040" cy="457200"/>
          </a:xfrm>
          <a:prstGeom prst="rect">
            <a:avLst/>
          </a:prstGeom>
          <a:solidFill>
            <a:srgbClr val="D64045"/>
          </a:solidFill>
          <a:ln/>
        </p:spPr>
      </p:sp>
      <p:sp>
        <p:nvSpPr>
          <p:cNvPr id="20" name="Text 18"/>
          <p:cNvSpPr/>
          <p:nvPr/>
        </p:nvSpPr>
        <p:spPr>
          <a:xfrm>
            <a:off x="365760" y="4846320"/>
            <a:ext cx="3566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TARGET: 47.9M kg/yr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251960" y="1298448"/>
            <a:ext cx="3749040" cy="502920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22" name="Text 20"/>
          <p:cNvSpPr/>
          <p:nvPr/>
        </p:nvSpPr>
        <p:spPr>
          <a:xfrm>
            <a:off x="4343400" y="1316736"/>
            <a:ext cx="8229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2027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5166360" y="1389888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&amp; OPTIMIZE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8001000" y="1545336"/>
            <a:ext cx="228600" cy="0"/>
          </a:xfrm>
          <a:prstGeom prst="line">
            <a:avLst/>
          </a:prstGeom>
          <a:noFill/>
          <a:ln w="25400">
            <a:solidFill>
              <a:srgbClr val="F5A62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251960" y="1828800"/>
            <a:ext cx="3749040" cy="2926080"/>
          </a:xfrm>
          <a:prstGeom prst="rect">
            <a:avLst/>
          </a:prstGeom>
          <a:solidFill>
            <a:srgbClr val="F2FAF6"/>
          </a:solidFill>
          <a:ln w="12700">
            <a:solidFill>
              <a:srgbClr val="D4EDE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416552" y="1993392"/>
            <a:ext cx="82296" cy="82296"/>
          </a:xfrm>
          <a:prstGeom prst="ellipse">
            <a:avLst/>
          </a:prstGeom>
          <a:solidFill>
            <a:srgbClr val="F5A623"/>
          </a:solidFill>
          <a:ln/>
        </p:spPr>
      </p:sp>
      <p:sp>
        <p:nvSpPr>
          <p:cNvPr id="27" name="Text 25"/>
          <p:cNvSpPr/>
          <p:nvPr/>
        </p:nvSpPr>
        <p:spPr>
          <a:xfrm>
            <a:off x="4581144" y="1938528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53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 rental fleet standard in EU + NA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4416552" y="2651760"/>
            <a:ext cx="82296" cy="82296"/>
          </a:xfrm>
          <a:prstGeom prst="ellipse">
            <a:avLst/>
          </a:prstGeom>
          <a:solidFill>
            <a:srgbClr val="F5A623"/>
          </a:solidFill>
          <a:ln/>
        </p:spPr>
      </p:sp>
      <p:sp>
        <p:nvSpPr>
          <p:cNvPr id="29" name="Text 27"/>
          <p:cNvSpPr/>
          <p:nvPr/>
        </p:nvSpPr>
        <p:spPr>
          <a:xfrm>
            <a:off x="4581144" y="2596896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53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Video-first policy for internal meetings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4416552" y="3310128"/>
            <a:ext cx="82296" cy="82296"/>
          </a:xfrm>
          <a:prstGeom prst="ellipse">
            <a:avLst/>
          </a:prstGeom>
          <a:solidFill>
            <a:srgbClr val="F5A623"/>
          </a:solidFill>
          <a:ln/>
        </p:spPr>
      </p:sp>
      <p:sp>
        <p:nvSpPr>
          <p:cNvPr id="31" name="Text 29"/>
          <p:cNvSpPr/>
          <p:nvPr/>
        </p:nvSpPr>
        <p:spPr>
          <a:xfrm>
            <a:off x="4581144" y="3255264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53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Supplier carbon SLA in contract negotiations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4416552" y="3968496"/>
            <a:ext cx="82296" cy="82296"/>
          </a:xfrm>
          <a:prstGeom prst="ellipse">
            <a:avLst/>
          </a:prstGeom>
          <a:solidFill>
            <a:srgbClr val="F5A623"/>
          </a:solidFill>
          <a:ln/>
        </p:spPr>
      </p:sp>
      <p:sp>
        <p:nvSpPr>
          <p:cNvPr id="33" name="Text 31"/>
          <p:cNvSpPr/>
          <p:nvPr/>
        </p:nvSpPr>
        <p:spPr>
          <a:xfrm>
            <a:off x="4581144" y="3913632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53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BU dashboards tracking carbon budget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4251960" y="4791456"/>
            <a:ext cx="3749040" cy="457200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35" name="Text 33"/>
          <p:cNvSpPr/>
          <p:nvPr/>
        </p:nvSpPr>
        <p:spPr>
          <a:xfrm>
            <a:off x="4343400" y="4846320"/>
            <a:ext cx="3566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TARGET: +22M kg/yr additional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8229600" y="1298448"/>
            <a:ext cx="3749040" cy="502920"/>
          </a:xfrm>
          <a:prstGeom prst="rect">
            <a:avLst/>
          </a:prstGeom>
          <a:solidFill>
            <a:srgbClr val="0F5C3A"/>
          </a:solidFill>
          <a:ln/>
        </p:spPr>
      </p:sp>
      <p:sp>
        <p:nvSpPr>
          <p:cNvPr id="37" name="Text 35"/>
          <p:cNvSpPr/>
          <p:nvPr/>
        </p:nvSpPr>
        <p:spPr>
          <a:xfrm>
            <a:off x="8321039" y="1316736"/>
            <a:ext cx="1084217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2028+</a:t>
            </a:r>
            <a:endParaRPr lang="en-US" sz="2200" dirty="0"/>
          </a:p>
        </p:txBody>
      </p:sp>
      <p:sp>
        <p:nvSpPr>
          <p:cNvPr id="38" name="Text 36"/>
          <p:cNvSpPr/>
          <p:nvPr/>
        </p:nvSpPr>
        <p:spPr>
          <a:xfrm>
            <a:off x="9144000" y="1389888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ZERO TARGET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8229600" y="1828800"/>
            <a:ext cx="3749040" cy="2926080"/>
          </a:xfrm>
          <a:prstGeom prst="rect">
            <a:avLst/>
          </a:prstGeom>
          <a:solidFill>
            <a:srgbClr val="F2FAF6"/>
          </a:solidFill>
          <a:ln w="12700">
            <a:solidFill>
              <a:srgbClr val="D4EDE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8394192" y="1993392"/>
            <a:ext cx="82296" cy="82296"/>
          </a:xfrm>
          <a:prstGeom prst="ellipse">
            <a:avLst/>
          </a:prstGeom>
          <a:solidFill>
            <a:srgbClr val="0F5C3A"/>
          </a:solidFill>
          <a:ln/>
        </p:spPr>
      </p:sp>
      <p:sp>
        <p:nvSpPr>
          <p:cNvPr id="41" name="Text 39"/>
          <p:cNvSpPr/>
          <p:nvPr/>
        </p:nvSpPr>
        <p:spPr>
          <a:xfrm>
            <a:off x="8558784" y="1938528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53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Carbon offsetting for unavoidable APAC long-haul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8394192" y="2651760"/>
            <a:ext cx="82296" cy="82296"/>
          </a:xfrm>
          <a:prstGeom prst="ellipse">
            <a:avLst/>
          </a:prstGeom>
          <a:solidFill>
            <a:srgbClr val="0F5C3A"/>
          </a:solidFill>
          <a:ln/>
        </p:spPr>
      </p:sp>
      <p:sp>
        <p:nvSpPr>
          <p:cNvPr id="43" name="Text 41"/>
          <p:cNvSpPr/>
          <p:nvPr/>
        </p:nvSpPr>
        <p:spPr>
          <a:xfrm>
            <a:off x="8558784" y="2596896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53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route optimizer suggests greenest itinerary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8394192" y="3310128"/>
            <a:ext cx="82296" cy="82296"/>
          </a:xfrm>
          <a:prstGeom prst="ellipse">
            <a:avLst/>
          </a:prstGeom>
          <a:solidFill>
            <a:srgbClr val="0F5C3A"/>
          </a:solidFill>
          <a:ln/>
        </p:spPr>
      </p:sp>
      <p:sp>
        <p:nvSpPr>
          <p:cNvPr id="45" name="Text 43"/>
          <p:cNvSpPr/>
          <p:nvPr/>
        </p:nvSpPr>
        <p:spPr>
          <a:xfrm>
            <a:off x="8558784" y="3255264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53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BU carbon budget allocated &amp; enforced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8394192" y="3968496"/>
            <a:ext cx="82296" cy="82296"/>
          </a:xfrm>
          <a:prstGeom prst="ellipse">
            <a:avLst/>
          </a:prstGeom>
          <a:solidFill>
            <a:srgbClr val="0F5C3A"/>
          </a:solidFill>
          <a:ln/>
        </p:spPr>
      </p:sp>
      <p:sp>
        <p:nvSpPr>
          <p:cNvPr id="47" name="Text 45"/>
          <p:cNvSpPr/>
          <p:nvPr/>
        </p:nvSpPr>
        <p:spPr>
          <a:xfrm>
            <a:off x="8558784" y="3913632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53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GHG Protocol reporting &amp; audit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8229600" y="4791456"/>
            <a:ext cx="3749040" cy="457200"/>
          </a:xfrm>
          <a:prstGeom prst="rect">
            <a:avLst/>
          </a:prstGeom>
          <a:solidFill>
            <a:srgbClr val="0F5C3A"/>
          </a:solidFill>
          <a:ln/>
        </p:spPr>
      </p:sp>
      <p:sp>
        <p:nvSpPr>
          <p:cNvPr id="49" name="Text 47"/>
          <p:cNvSpPr/>
          <p:nvPr/>
        </p:nvSpPr>
        <p:spPr>
          <a:xfrm>
            <a:off x="8321040" y="4846320"/>
            <a:ext cx="3566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TARGET: Net Zero trajectory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274320" y="5440680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Projected Cumulative CO₂e Reduction (M kg)</a:t>
            </a:r>
            <a:endParaRPr lang="en-US" sz="1000" dirty="0"/>
          </a:p>
        </p:txBody>
      </p:sp>
      <p:graphicFrame>
        <p:nvGraphicFramePr>
          <p:cNvPr id="51" name="Chart 0"/>
          <p:cNvGraphicFramePr/>
          <p:nvPr/>
        </p:nvGraphicFramePr>
        <p:xfrm>
          <a:off x="274320" y="5742432"/>
          <a:ext cx="5029200" cy="914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2" name="Shape 49"/>
          <p:cNvSpPr/>
          <p:nvPr/>
        </p:nvSpPr>
        <p:spPr>
          <a:xfrm>
            <a:off x="5486400" y="5394960"/>
            <a:ext cx="6400800" cy="1234440"/>
          </a:xfrm>
          <a:prstGeom prst="rect">
            <a:avLst/>
          </a:prstGeom>
          <a:solidFill>
            <a:srgbClr val="0F5C3A"/>
          </a:solidFill>
          <a:ln/>
        </p:spPr>
      </p:sp>
      <p:sp>
        <p:nvSpPr>
          <p:cNvPr id="53" name="Text 50"/>
          <p:cNvSpPr/>
          <p:nvPr/>
        </p:nvSpPr>
        <p:spPr>
          <a:xfrm>
            <a:off x="5669280" y="5440680"/>
            <a:ext cx="603504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3-Year CO₂ Reduction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155.9M kg saved by 2028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87% of current annual footprint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1143000"/>
          </a:xfrm>
          <a:prstGeom prst="rect">
            <a:avLst/>
          </a:prstGeom>
          <a:solidFill>
            <a:srgbClr val="0F5C3A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9144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B: High-Carbon Trip Prediction Model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10058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EC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Binary classifier to predict high-carbon trips before booking — enabling pre-emptive intervention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274320" y="1298448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F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ARCHITECTURE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274320" y="1664208"/>
            <a:ext cx="5029200" cy="420624"/>
          </a:xfrm>
          <a:prstGeom prst="rect">
            <a:avLst/>
          </a:prstGeom>
          <a:solidFill>
            <a:srgbClr val="F2FAF6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719072"/>
            <a:ext cx="16459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253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Algorithm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920240" y="1719072"/>
            <a:ext cx="3200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D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Ensemble: XGBoost + LightGBM + RandomForest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74320" y="2139696"/>
            <a:ext cx="502920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5760" y="2194560"/>
            <a:ext cx="16459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253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Data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920240" y="2194560"/>
            <a:ext cx="3200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D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65,289 trips (public dataset)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274320" y="2615184"/>
            <a:ext cx="5029200" cy="420624"/>
          </a:xfrm>
          <a:prstGeom prst="rect">
            <a:avLst/>
          </a:prstGeom>
          <a:solidFill>
            <a:srgbClr val="F2FAF6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70048"/>
            <a:ext cx="16459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253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Balance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920240" y="2670048"/>
            <a:ext cx="3200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D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75% Low-Carbon / 25% High-Carbon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274320" y="3090672"/>
            <a:ext cx="502920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145536"/>
            <a:ext cx="16459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253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920240" y="3145536"/>
            <a:ext cx="3200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D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5-Fold Stratified Cross-Validation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74320" y="3566160"/>
            <a:ext cx="5029200" cy="420624"/>
          </a:xfrm>
          <a:prstGeom prst="rect">
            <a:avLst/>
          </a:prstGeom>
          <a:solidFill>
            <a:srgbClr val="F2FAF6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621024"/>
            <a:ext cx="16459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253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920240" y="3621024"/>
            <a:ext cx="3200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D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ROC-AUC (Primary) + F1 Score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274320" y="4041648"/>
            <a:ext cx="502920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6459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253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Threshold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920240" y="4096512"/>
            <a:ext cx="3200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D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OOF-tuned for optimal F1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274320" y="4517136"/>
            <a:ext cx="5029200" cy="420624"/>
          </a:xfrm>
          <a:prstGeom prst="rect">
            <a:avLst/>
          </a:prstGeom>
          <a:solidFill>
            <a:srgbClr val="F2FAF6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4572000"/>
            <a:ext cx="16459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253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Prohibited Feats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920240" y="4572000"/>
            <a:ext cx="3200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D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CO₂e columns excluded (per guidelines)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5577840" y="1298448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F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ENGINEERING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577840" y="1664208"/>
            <a:ext cx="6492240" cy="457200"/>
          </a:xfrm>
          <a:prstGeom prst="rect">
            <a:avLst/>
          </a:prstGeom>
          <a:solidFill>
            <a:srgbClr val="F2FAF6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669280" y="1719072"/>
            <a:ext cx="2011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F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Transport Flags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7589520" y="1719072"/>
            <a:ext cx="4389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253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Is_Business_Class, Is_First_Class, Is_Flight, Is_Train, Is_EV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5577840" y="2167128"/>
            <a:ext cx="649224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669280" y="2221992"/>
            <a:ext cx="2011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F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 Signals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7589520" y="2221992"/>
            <a:ext cx="4389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253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OutOfPolicy_binary, Is_PreApproved, Mode_Changed (event log)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5577840" y="2670048"/>
            <a:ext cx="6492240" cy="457200"/>
          </a:xfrm>
          <a:prstGeom prst="rect">
            <a:avLst/>
          </a:prstGeom>
          <a:solidFill>
            <a:srgbClr val="F2FAF6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669280" y="2724912"/>
            <a:ext cx="2011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F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Features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7589520" y="2724912"/>
            <a:ext cx="4389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253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Same_Region, Same_Country, Hotel_Nights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5577840" y="3172968"/>
            <a:ext cx="649224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669280" y="3227832"/>
            <a:ext cx="2011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F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Context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7589520" y="3227832"/>
            <a:ext cx="4389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253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BU_encoded, Purpose_encoded, EntityCode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5577840" y="3675888"/>
            <a:ext cx="6492240" cy="457200"/>
          </a:xfrm>
          <a:prstGeom prst="rect">
            <a:avLst/>
          </a:prstGeom>
          <a:solidFill>
            <a:srgbClr val="F2FAF6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669280" y="3730752"/>
            <a:ext cx="2011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F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Events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7589520" y="3730752"/>
            <a:ext cx="4389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253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Trip_Extension_flag, Change_Event_count, Disruption_flag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5577840" y="4178808"/>
            <a:ext cx="649224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669280" y="4233672"/>
            <a:ext cx="2011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F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Features</a:t>
            </a:r>
            <a:endParaRPr lang="en-US" sz="850" dirty="0"/>
          </a:p>
        </p:txBody>
      </p:sp>
      <p:sp>
        <p:nvSpPr>
          <p:cNvPr id="46" name="Text 44"/>
          <p:cNvSpPr/>
          <p:nvPr/>
        </p:nvSpPr>
        <p:spPr>
          <a:xfrm>
            <a:off x="7589520" y="4233672"/>
            <a:ext cx="4389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253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NetCosts, Cost_per_Night, Relative_cost_BU_avg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274320" y="5120640"/>
            <a:ext cx="5029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D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HIGH-CARBON RATE BY TRANSPORT MODE</a:t>
            </a:r>
            <a:endParaRPr lang="en-US" sz="950" dirty="0"/>
          </a:p>
        </p:txBody>
      </p:sp>
      <p:graphicFrame>
        <p:nvGraphicFramePr>
          <p:cNvPr id="48" name="Chart 0"/>
          <p:cNvGraphicFramePr/>
          <p:nvPr/>
        </p:nvGraphicFramePr>
        <p:xfrm>
          <a:off x="274320" y="5413248"/>
          <a:ext cx="5029200" cy="12344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9" name="Shape 46"/>
          <p:cNvSpPr/>
          <p:nvPr/>
        </p:nvSpPr>
        <p:spPr>
          <a:xfrm>
            <a:off x="5577840" y="5074920"/>
            <a:ext cx="6492240" cy="1554480"/>
          </a:xfrm>
          <a:prstGeom prst="rect">
            <a:avLst/>
          </a:prstGeom>
          <a:solidFill>
            <a:srgbClr val="0D1F1A"/>
          </a:solidFill>
          <a:ln/>
        </p:spPr>
      </p:sp>
      <p:sp>
        <p:nvSpPr>
          <p:cNvPr id="50" name="Text 47"/>
          <p:cNvSpPr/>
          <p:nvPr/>
        </p:nvSpPr>
        <p:spPr>
          <a:xfrm>
            <a:off x="5760720" y="5166360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2EC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RESULT</a:t>
            </a:r>
            <a:endParaRPr lang="en-US" sz="900" dirty="0"/>
          </a:p>
        </p:txBody>
      </p:sp>
      <p:sp>
        <p:nvSpPr>
          <p:cNvPr id="51" name="Text 48"/>
          <p:cNvSpPr/>
          <p:nvPr/>
        </p:nvSpPr>
        <p:spPr>
          <a:xfrm>
            <a:off x="5760720" y="5468112"/>
            <a:ext cx="612648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8E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ShippingTypeDescription is the #1 predictor of HighCarbon classification. First Class (63%) and Business Class (56%) have near-certain high-carbon outcomes. Training without CO₂e columns, the model learns from transport mode, policy compliance, BU context, and process event signals.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1143000"/>
          </a:xfrm>
          <a:prstGeom prst="rect">
            <a:avLst/>
          </a:prstGeom>
          <a:solidFill>
            <a:srgbClr val="0F5C3A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9144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Celonis Dashboard — Live Demo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10058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EC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mandatory views: Emissions Overview · Benchmarking · Emissions Drilldown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74320" y="1298448"/>
            <a:ext cx="3749040" cy="5285232"/>
          </a:xfrm>
          <a:prstGeom prst="rect">
            <a:avLst/>
          </a:prstGeom>
          <a:solidFill>
            <a:srgbClr val="E8F5EE"/>
          </a:solidFill>
          <a:ln w="19050">
            <a:solidFill>
              <a:srgbClr val="D4ED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74320" y="1298448"/>
            <a:ext cx="3749040" cy="411480"/>
          </a:xfrm>
          <a:prstGeom prst="rect">
            <a:avLst/>
          </a:prstGeom>
          <a:solidFill>
            <a:srgbClr val="0F5C3A"/>
          </a:solidFill>
          <a:ln/>
        </p:spPr>
      </p:sp>
      <p:sp>
        <p:nvSpPr>
          <p:cNvPr id="8" name="Text 6"/>
          <p:cNvSpPr/>
          <p:nvPr/>
        </p:nvSpPr>
        <p:spPr>
          <a:xfrm>
            <a:off x="365760" y="1335024"/>
            <a:ext cx="356616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 1: Emissions Overview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57200" y="1828800"/>
            <a:ext cx="3383280" cy="594360"/>
          </a:xfrm>
          <a:prstGeom prst="rect">
            <a:avLst/>
          </a:prstGeom>
          <a:solidFill>
            <a:srgbClr val="E8F5EE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1874520"/>
            <a:ext cx="3383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i="1" dirty="0">
                <a:solidFill>
                  <a:srgbClr val="0F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Screenshot: Total CO₂e KPI cards, trip volume, high-carbon rate, cost vs emissions scatter ]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457200" y="2560320"/>
            <a:ext cx="1554480" cy="658368"/>
          </a:xfrm>
          <a:prstGeom prst="rect">
            <a:avLst/>
          </a:prstGeom>
          <a:solidFill>
            <a:srgbClr val="E5F2EB"/>
          </a:solidFill>
          <a:ln w="6350">
            <a:solidFill>
              <a:srgbClr val="C8E6D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194560" y="2560320"/>
            <a:ext cx="1645920" cy="658368"/>
          </a:xfrm>
          <a:prstGeom prst="rect">
            <a:avLst/>
          </a:prstGeom>
          <a:solidFill>
            <a:srgbClr val="E5F2EB"/>
          </a:solidFill>
          <a:ln w="6350">
            <a:solidFill>
              <a:srgbClr val="C8E6D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57200" y="3337560"/>
            <a:ext cx="1554480" cy="658368"/>
          </a:xfrm>
          <a:prstGeom prst="rect">
            <a:avLst/>
          </a:prstGeom>
          <a:solidFill>
            <a:srgbClr val="E5F2EB"/>
          </a:solidFill>
          <a:ln w="6350">
            <a:solidFill>
              <a:srgbClr val="C8E6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" name="Shape 13"/>
          <p:cNvSpPr/>
          <p:nvPr/>
        </p:nvSpPr>
        <p:spPr>
          <a:xfrm>
            <a:off x="2194560" y="3337560"/>
            <a:ext cx="1645920" cy="658368"/>
          </a:xfrm>
          <a:prstGeom prst="rect">
            <a:avLst/>
          </a:prstGeom>
          <a:solidFill>
            <a:srgbClr val="E5F2EB"/>
          </a:solidFill>
          <a:ln w="6350">
            <a:solidFill>
              <a:srgbClr val="C8E6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Shape 14"/>
          <p:cNvSpPr/>
          <p:nvPr/>
        </p:nvSpPr>
        <p:spPr>
          <a:xfrm>
            <a:off x="457200" y="4114800"/>
            <a:ext cx="1554480" cy="658368"/>
          </a:xfrm>
          <a:prstGeom prst="rect">
            <a:avLst/>
          </a:prstGeom>
          <a:solidFill>
            <a:srgbClr val="E5F2EB"/>
          </a:solidFill>
          <a:ln w="6350">
            <a:solidFill>
              <a:srgbClr val="C8E6D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194560" y="4114800"/>
            <a:ext cx="1645920" cy="658368"/>
          </a:xfrm>
          <a:prstGeom prst="rect">
            <a:avLst/>
          </a:prstGeom>
          <a:solidFill>
            <a:srgbClr val="E5F2EB"/>
          </a:solidFill>
          <a:ln w="6350">
            <a:solidFill>
              <a:srgbClr val="C8E6D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4892040"/>
            <a:ext cx="1554480" cy="658368"/>
          </a:xfrm>
          <a:prstGeom prst="rect">
            <a:avLst/>
          </a:prstGeom>
          <a:solidFill>
            <a:srgbClr val="E5F2EB"/>
          </a:solidFill>
          <a:ln w="6350">
            <a:solidFill>
              <a:srgbClr val="C8E6D4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194560" y="4892040"/>
            <a:ext cx="1645920" cy="658368"/>
          </a:xfrm>
          <a:prstGeom prst="rect">
            <a:avLst/>
          </a:prstGeom>
          <a:solidFill>
            <a:srgbClr val="E5F2EB"/>
          </a:solidFill>
          <a:ln w="6350">
            <a:solidFill>
              <a:srgbClr val="C8E6D4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251960" y="1298448"/>
            <a:ext cx="3749040" cy="5285232"/>
          </a:xfrm>
          <a:prstGeom prst="rect">
            <a:avLst/>
          </a:prstGeom>
          <a:solidFill>
            <a:srgbClr val="E8F5EE"/>
          </a:solidFill>
          <a:ln w="19050">
            <a:solidFill>
              <a:srgbClr val="D4EDE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251960" y="1298448"/>
            <a:ext cx="3749040" cy="411480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22" name="Text 20"/>
          <p:cNvSpPr/>
          <p:nvPr/>
        </p:nvSpPr>
        <p:spPr>
          <a:xfrm>
            <a:off x="4343400" y="1335024"/>
            <a:ext cx="356616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 2: Benchmarking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434840" y="1828800"/>
            <a:ext cx="3383280" cy="594360"/>
          </a:xfrm>
          <a:prstGeom prst="rect">
            <a:avLst/>
          </a:prstGeom>
          <a:solidFill>
            <a:srgbClr val="E8F5EE"/>
          </a:solidFill>
          <a:ln/>
        </p:spPr>
      </p:sp>
      <p:sp>
        <p:nvSpPr>
          <p:cNvPr id="24" name="Text 22"/>
          <p:cNvSpPr/>
          <p:nvPr/>
        </p:nvSpPr>
        <p:spPr>
          <a:xfrm>
            <a:off x="4434840" y="1874520"/>
            <a:ext cx="3383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i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Screenshot: Regional comparison bar charts, APAC vs EU vs NA vs LATAM, OOP rate heatmap ]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4434840" y="2560320"/>
            <a:ext cx="1554480" cy="658368"/>
          </a:xfrm>
          <a:prstGeom prst="rect">
            <a:avLst/>
          </a:prstGeom>
          <a:solidFill>
            <a:srgbClr val="E5F2EB"/>
          </a:solidFill>
          <a:ln w="6350">
            <a:solidFill>
              <a:srgbClr val="C8E6D4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172200" y="2560320"/>
            <a:ext cx="1645920" cy="658368"/>
          </a:xfrm>
          <a:prstGeom prst="rect">
            <a:avLst/>
          </a:prstGeom>
          <a:solidFill>
            <a:srgbClr val="E5F2EB"/>
          </a:solidFill>
          <a:ln w="6350">
            <a:solidFill>
              <a:srgbClr val="C8E6D4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434840" y="3337560"/>
            <a:ext cx="1554480" cy="658368"/>
          </a:xfrm>
          <a:prstGeom prst="rect">
            <a:avLst/>
          </a:prstGeom>
          <a:solidFill>
            <a:srgbClr val="E5F2EB"/>
          </a:solidFill>
          <a:ln w="6350">
            <a:solidFill>
              <a:srgbClr val="C8E6D4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172200" y="3337560"/>
            <a:ext cx="1645920" cy="658368"/>
          </a:xfrm>
          <a:prstGeom prst="rect">
            <a:avLst/>
          </a:prstGeom>
          <a:solidFill>
            <a:srgbClr val="E5F2EB"/>
          </a:solidFill>
          <a:ln w="6350">
            <a:solidFill>
              <a:srgbClr val="C8E6D4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434840" y="4114800"/>
            <a:ext cx="1554480" cy="658368"/>
          </a:xfrm>
          <a:prstGeom prst="rect">
            <a:avLst/>
          </a:prstGeom>
          <a:solidFill>
            <a:srgbClr val="E5F2EB"/>
          </a:solidFill>
          <a:ln w="6350">
            <a:solidFill>
              <a:srgbClr val="C8E6D4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172200" y="4114800"/>
            <a:ext cx="1645920" cy="658368"/>
          </a:xfrm>
          <a:prstGeom prst="rect">
            <a:avLst/>
          </a:prstGeom>
          <a:solidFill>
            <a:srgbClr val="E5F2EB"/>
          </a:solidFill>
          <a:ln w="6350">
            <a:solidFill>
              <a:srgbClr val="C8E6D4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434840" y="4892040"/>
            <a:ext cx="1554480" cy="658368"/>
          </a:xfrm>
          <a:prstGeom prst="rect">
            <a:avLst/>
          </a:prstGeom>
          <a:solidFill>
            <a:srgbClr val="E5F2EB"/>
          </a:solidFill>
          <a:ln w="6350">
            <a:solidFill>
              <a:srgbClr val="C8E6D4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172200" y="4892040"/>
            <a:ext cx="1645920" cy="658368"/>
          </a:xfrm>
          <a:prstGeom prst="rect">
            <a:avLst/>
          </a:prstGeom>
          <a:solidFill>
            <a:srgbClr val="E5F2EB"/>
          </a:solidFill>
          <a:ln w="6350">
            <a:solidFill>
              <a:srgbClr val="C8E6D4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229600" y="1298448"/>
            <a:ext cx="3749040" cy="5285232"/>
          </a:xfrm>
          <a:prstGeom prst="rect">
            <a:avLst/>
          </a:prstGeom>
          <a:solidFill>
            <a:srgbClr val="E8F5EE"/>
          </a:solidFill>
          <a:ln w="19050">
            <a:solidFill>
              <a:srgbClr val="D4EDE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229600" y="1298448"/>
            <a:ext cx="3749040" cy="411480"/>
          </a:xfrm>
          <a:prstGeom prst="rect">
            <a:avLst/>
          </a:prstGeom>
          <a:solidFill>
            <a:srgbClr val="D64045"/>
          </a:solidFill>
          <a:ln/>
        </p:spPr>
      </p:sp>
      <p:sp>
        <p:nvSpPr>
          <p:cNvPr id="36" name="Text 34"/>
          <p:cNvSpPr/>
          <p:nvPr/>
        </p:nvSpPr>
        <p:spPr>
          <a:xfrm>
            <a:off x="8321040" y="1335024"/>
            <a:ext cx="356616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 3: Emissions Drilldown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8412480" y="1828800"/>
            <a:ext cx="3383280" cy="594360"/>
          </a:xfrm>
          <a:prstGeom prst="rect">
            <a:avLst/>
          </a:prstGeom>
          <a:solidFill>
            <a:srgbClr val="E8F5EE"/>
          </a:solidFill>
          <a:ln/>
        </p:spPr>
      </p:sp>
      <p:sp>
        <p:nvSpPr>
          <p:cNvPr id="38" name="Text 36"/>
          <p:cNvSpPr/>
          <p:nvPr/>
        </p:nvSpPr>
        <p:spPr>
          <a:xfrm>
            <a:off x="8412480" y="1874520"/>
            <a:ext cx="3383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i="1" dirty="0">
                <a:solidFill>
                  <a:srgbClr val="D640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Screenshot: BU × Purpose matrix, transport mode breakdown, process variant analysis, flight class comparison ]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8412480" y="2560320"/>
            <a:ext cx="1554480" cy="658368"/>
          </a:xfrm>
          <a:prstGeom prst="rect">
            <a:avLst/>
          </a:prstGeom>
          <a:solidFill>
            <a:srgbClr val="E5F2EB"/>
          </a:solidFill>
          <a:ln w="6350">
            <a:solidFill>
              <a:srgbClr val="C8E6D4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10149840" y="2560320"/>
            <a:ext cx="1645920" cy="658368"/>
          </a:xfrm>
          <a:prstGeom prst="rect">
            <a:avLst/>
          </a:prstGeom>
          <a:solidFill>
            <a:srgbClr val="E5F2EB"/>
          </a:solidFill>
          <a:ln w="6350">
            <a:solidFill>
              <a:srgbClr val="C8E6D4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8412480" y="3337560"/>
            <a:ext cx="1554480" cy="658368"/>
          </a:xfrm>
          <a:prstGeom prst="rect">
            <a:avLst/>
          </a:prstGeom>
          <a:solidFill>
            <a:srgbClr val="E5F2EB"/>
          </a:solidFill>
          <a:ln w="6350">
            <a:solidFill>
              <a:srgbClr val="C8E6D4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10149840" y="3337560"/>
            <a:ext cx="1645920" cy="658368"/>
          </a:xfrm>
          <a:prstGeom prst="rect">
            <a:avLst/>
          </a:prstGeom>
          <a:solidFill>
            <a:srgbClr val="E5F2EB"/>
          </a:solidFill>
          <a:ln w="6350">
            <a:solidFill>
              <a:srgbClr val="C8E6D4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412480" y="4114800"/>
            <a:ext cx="1554480" cy="658368"/>
          </a:xfrm>
          <a:prstGeom prst="rect">
            <a:avLst/>
          </a:prstGeom>
          <a:solidFill>
            <a:srgbClr val="E5F2EB"/>
          </a:solidFill>
          <a:ln w="6350">
            <a:solidFill>
              <a:srgbClr val="C8E6D4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0149840" y="4114800"/>
            <a:ext cx="1645920" cy="658368"/>
          </a:xfrm>
          <a:prstGeom prst="rect">
            <a:avLst/>
          </a:prstGeom>
          <a:solidFill>
            <a:srgbClr val="E5F2EB"/>
          </a:solidFill>
          <a:ln w="6350">
            <a:solidFill>
              <a:srgbClr val="C8E6D4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8412480" y="4892040"/>
            <a:ext cx="1554480" cy="658368"/>
          </a:xfrm>
          <a:prstGeom prst="rect">
            <a:avLst/>
          </a:prstGeom>
          <a:solidFill>
            <a:srgbClr val="E5F2EB"/>
          </a:solidFill>
          <a:ln w="6350">
            <a:solidFill>
              <a:srgbClr val="C8E6D4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0149840" y="4892040"/>
            <a:ext cx="1645920" cy="658368"/>
          </a:xfrm>
          <a:prstGeom prst="rect">
            <a:avLst/>
          </a:prstGeom>
          <a:solidFill>
            <a:srgbClr val="E5F2EB"/>
          </a:solidFill>
          <a:ln w="6350">
            <a:solidFill>
              <a:srgbClr val="C8E6D4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274320" y="6419088"/>
            <a:ext cx="11612880" cy="256032"/>
          </a:xfrm>
          <a:prstGeom prst="rect">
            <a:avLst/>
          </a:prstGeom>
          <a:solidFill>
            <a:srgbClr val="0F5C3A"/>
          </a:solidFill>
          <a:ln/>
        </p:spPr>
      </p:sp>
      <p:sp>
        <p:nvSpPr>
          <p:cNvPr id="49" name="Text 47"/>
          <p:cNvSpPr/>
          <p:nvPr/>
        </p:nvSpPr>
        <p:spPr>
          <a:xfrm>
            <a:off x="457200" y="6446520"/>
            <a:ext cx="11430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2EC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 Replace the placeholder blocks above with actual screenshots from your Celonis environment before submission.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1F1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EC47A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28600"/>
            <a:ext cx="9144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at a Glance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457200" y="896112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EC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GreenTravel Intelligence Challenge · Vaibhav Soni · Summer Analytics 2026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2743200" cy="1508760"/>
          </a:xfrm>
          <a:prstGeom prst="rect">
            <a:avLst/>
          </a:prstGeom>
          <a:solidFill>
            <a:srgbClr val="0F5C3A"/>
          </a:solidFill>
          <a:ln w="19050">
            <a:solidFill>
              <a:srgbClr val="D6404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1417320"/>
            <a:ext cx="25603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D640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178M kg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548640" y="2084832"/>
            <a:ext cx="25603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Annual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CO₂e Footprint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383280" y="1325880"/>
            <a:ext cx="2743200" cy="1508760"/>
          </a:xfrm>
          <a:prstGeom prst="rect">
            <a:avLst/>
          </a:prstGeom>
          <a:solidFill>
            <a:srgbClr val="0F5C3A"/>
          </a:solidFill>
          <a:ln w="19050">
            <a:solidFill>
              <a:srgbClr val="F5A62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474720" y="1417320"/>
            <a:ext cx="25603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52M kg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3474720" y="2084832"/>
            <a:ext cx="25603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Year-1 Reducible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(Policy Changes)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309360" y="1325880"/>
            <a:ext cx="2743200" cy="1508760"/>
          </a:xfrm>
          <a:prstGeom prst="rect">
            <a:avLst/>
          </a:prstGeom>
          <a:solidFill>
            <a:srgbClr val="0F5C3A"/>
          </a:solidFill>
          <a:ln w="19050">
            <a:solidFill>
              <a:srgbClr val="1A8A5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0" y="1417320"/>
            <a:ext cx="25603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A8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156M kg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6400800" y="2084832"/>
            <a:ext cx="25603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3-Year Total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Reduction Potential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9235440" y="1325880"/>
            <a:ext cx="2743200" cy="1508760"/>
          </a:xfrm>
          <a:prstGeom prst="rect">
            <a:avLst/>
          </a:prstGeom>
          <a:solidFill>
            <a:srgbClr val="0F5C3A"/>
          </a:solidFill>
          <a:ln w="19050">
            <a:solidFill>
              <a:srgbClr val="2EC47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326880" y="1417320"/>
            <a:ext cx="25603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2EC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87%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9326880" y="2084832"/>
            <a:ext cx="25603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Footprint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Addressable by 2028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" y="3035808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EC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ALL 5 KEY BUSINESS QUESTIONS ADDRESSED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3456432"/>
            <a:ext cx="91440" cy="91440"/>
          </a:xfrm>
          <a:prstGeom prst="ellipse">
            <a:avLst/>
          </a:prstGeom>
          <a:solidFill>
            <a:srgbClr val="2EC47A"/>
          </a:solidFill>
          <a:ln/>
        </p:spPr>
      </p:sp>
      <p:sp>
        <p:nvSpPr>
          <p:cNvPr id="20" name="Text 18"/>
          <p:cNvSpPr/>
          <p:nvPr/>
        </p:nvSpPr>
        <p:spPr>
          <a:xfrm>
            <a:off x="640080" y="341071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Emissions Profile: 178M kg CO₂e across 65,289 trips — flights are 83.9% of total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57200" y="3931920"/>
            <a:ext cx="91440" cy="91440"/>
          </a:xfrm>
          <a:prstGeom prst="ellipse">
            <a:avLst/>
          </a:prstGeom>
          <a:solidFill>
            <a:srgbClr val="2EC47A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388620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Regional Benchmarking: APAC = 65.8%, Europe = 0% high-carbon thanks to rail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57200" y="4407408"/>
            <a:ext cx="91440" cy="91440"/>
          </a:xfrm>
          <a:prstGeom prst="ellipse">
            <a:avLst/>
          </a:prstGeom>
          <a:solidFill>
            <a:srgbClr val="2EC47A"/>
          </a:solidFill>
          <a:ln/>
        </p:spPr>
      </p:sp>
      <p:sp>
        <p:nvSpPr>
          <p:cNvPr id="24" name="Text 22"/>
          <p:cNvSpPr/>
          <p:nvPr/>
        </p:nvSpPr>
        <p:spPr>
          <a:xfrm>
            <a:off x="640080" y="4361688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Hotspot Identification: Sales BU + Business Class flights + Customer Visits = core problem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57200" y="4882896"/>
            <a:ext cx="91440" cy="91440"/>
          </a:xfrm>
          <a:prstGeom prst="ellipse">
            <a:avLst/>
          </a:prstGeom>
          <a:solidFill>
            <a:srgbClr val="2EC47A"/>
          </a:solidFill>
          <a:ln/>
        </p:spPr>
      </p:sp>
      <p:sp>
        <p:nvSpPr>
          <p:cNvPr id="26" name="Text 24"/>
          <p:cNvSpPr/>
          <p:nvPr/>
        </p:nvSpPr>
        <p:spPr>
          <a:xfrm>
            <a:off x="640080" y="4837176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 Points: 18.4% OOP, 17.9% trips modified, 47% of BC flights are non-compliant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457200" y="5358384"/>
            <a:ext cx="91440" cy="91440"/>
          </a:xfrm>
          <a:prstGeom prst="ellipse">
            <a:avLst/>
          </a:prstGeom>
          <a:solidFill>
            <a:srgbClr val="2EC47A"/>
          </a:solidFill>
          <a:ln/>
        </p:spPr>
      </p:sp>
      <p:sp>
        <p:nvSpPr>
          <p:cNvPr id="28" name="Text 26"/>
          <p:cNvSpPr/>
          <p:nvPr/>
        </p:nvSpPr>
        <p:spPr>
          <a:xfrm>
            <a:off x="640080" y="5312664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Recommendations: Economy-first policy + AI gate + rail mandate = 52M kg/yr saved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457200" y="5833872"/>
            <a:ext cx="11247120" cy="749808"/>
          </a:xfrm>
          <a:prstGeom prst="rect">
            <a:avLst/>
          </a:prstGeom>
          <a:solidFill>
            <a:srgbClr val="0F5C3A"/>
          </a:solidFill>
          <a:ln/>
        </p:spPr>
      </p:sp>
      <p:sp>
        <p:nvSpPr>
          <p:cNvPr id="30" name="Text 28"/>
          <p:cNvSpPr/>
          <p:nvPr/>
        </p:nvSpPr>
        <p:spPr>
          <a:xfrm>
            <a:off x="594360" y="5870448"/>
            <a:ext cx="110642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EC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 BONUS: External Benchmark — IATA reports avg 295g CO₂/km for economy flights. Celonis' avg 2,554 kg economy trip implies ~8,640km avg flight distance, consistent with APAC-heavy travel pattern confirmed by data.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1729</Words>
  <Application>Microsoft Office PowerPoint</Application>
  <PresentationFormat>Widescreen</PresentationFormat>
  <Paragraphs>315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Shubham Soni</cp:lastModifiedBy>
  <cp:revision>5</cp:revision>
  <dcterms:created xsi:type="dcterms:W3CDTF">2026-07-14T10:54:40Z</dcterms:created>
  <dcterms:modified xsi:type="dcterms:W3CDTF">2026-07-14T10:59:56Z</dcterms:modified>
</cp:coreProperties>
</file>