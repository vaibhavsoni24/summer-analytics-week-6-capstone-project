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3.xml" ContentType="application/vnd.openxmlformats-officedocument.drawingml.chart+xml"/>
  <Override PartName="/ppt/notesSlides/notesSlide8.xml" ContentType="application/vnd.openxmlformats-officedocument.presentationml.notesSlide+xml"/>
  <Override PartName="/ppt/charts/chart4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CO₂e (M kg)</c:v>
                </c:pt>
              </c:strCache>
            </c:strRef>
          </c:tx>
          <c:spPr>
            <a:solidFill>
              <a:srgbClr val="D64045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BB0-4D72-A8F6-00C3EAF7C1DD}"/>
              </c:ext>
            </c:extLst>
          </c:dPt>
          <c:dPt>
            <c:idx val="1"/>
            <c:invertIfNegative val="0"/>
            <c:bubble3D val="0"/>
            <c:spPr>
              <a:solidFill>
                <a:srgbClr val="F5A62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BB0-4D72-A8F6-00C3EAF7C1DD}"/>
              </c:ext>
            </c:extLst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6BB0-4D72-A8F6-00C3EAF7C1DD}"/>
              </c:ext>
            </c:extLst>
          </c:dPt>
          <c:dPt>
            <c:idx val="3"/>
            <c:invertIfNegative val="0"/>
            <c:bubble3D val="0"/>
            <c:spPr>
              <a:solidFill>
                <a:srgbClr val="3B82F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6BB0-4D72-A8F6-00C3EAF7C1DD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6BB0-4D72-A8F6-00C3EAF7C1DD}"/>
              </c:ext>
            </c:extLst>
          </c:dPt>
          <c:dPt>
            <c:idx val="5"/>
            <c:invertIfNegative val="0"/>
            <c:bubble3D val="0"/>
            <c:spPr>
              <a:solidFill>
                <a:srgbClr val="3B82F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6BB0-4D72-A8F6-00C3EAF7C1DD}"/>
              </c:ext>
            </c:extLst>
          </c:dPt>
          <c:dPt>
            <c:idx val="6"/>
            <c:invertIfNegative val="0"/>
            <c:bubble3D val="0"/>
            <c:spPr>
              <a:solidFill>
                <a:srgbClr val="1A8A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6BB0-4D72-A8F6-00C3EAF7C1DD}"/>
              </c:ext>
            </c:extLst>
          </c:dPt>
          <c:dPt>
            <c:idx val="7"/>
            <c:invertIfNegative val="0"/>
            <c:bubble3D val="0"/>
            <c:spPr>
              <a:solidFill>
                <a:srgbClr val="2EC47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6BB0-4D72-A8F6-00C3EAF7C1DD}"/>
              </c:ext>
            </c:extLst>
          </c:dPt>
          <c:dPt>
            <c:idx val="8"/>
            <c:invertIfNegative val="0"/>
            <c:bubble3D val="0"/>
            <c:spPr>
              <a:solidFill>
                <a:srgbClr val="2EC47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6BB0-4D72-A8F6-00C3EAF7C1DD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Business Class
Flight</c:v>
                </c:pt>
                <c:pt idx="1">
                  <c:v>Economy
Flight</c:v>
                </c:pt>
                <c:pt idx="2">
                  <c:v>BMW 3
Diesel</c:v>
                </c:pt>
                <c:pt idx="3">
                  <c:v>VW Golf
Diesel</c:v>
                </c:pt>
                <c:pt idx="4">
                  <c:v>First Class
Flight</c:v>
                </c:pt>
                <c:pt idx="5">
                  <c:v>VW Golf
Petrol</c:v>
                </c:pt>
                <c:pt idx="6">
                  <c:v>BMW Hybrid</c:v>
                </c:pt>
                <c:pt idx="7">
                  <c:v>Train</c:v>
                </c:pt>
                <c:pt idx="8">
                  <c:v>Fiat EV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73.099999999999994</c:v>
                </c:pt>
                <c:pt idx="1">
                  <c:v>69.7</c:v>
                </c:pt>
                <c:pt idx="2">
                  <c:v>11.1</c:v>
                </c:pt>
                <c:pt idx="3">
                  <c:v>7.2</c:v>
                </c:pt>
                <c:pt idx="4">
                  <c:v>6.5</c:v>
                </c:pt>
                <c:pt idx="5">
                  <c:v>6</c:v>
                </c:pt>
                <c:pt idx="6">
                  <c:v>1.8</c:v>
                </c:pt>
                <c:pt idx="7">
                  <c:v>1.4</c:v>
                </c:pt>
                <c:pt idx="8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6BB0-4D72-A8F6-00C3EAF7C1DD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535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CO₂e</c:v>
                </c:pt>
              </c:strCache>
            </c:strRef>
          </c:tx>
          <c:spPr>
            <a:solidFill>
              <a:srgbClr val="D64045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FD81-48DD-A47C-1CCBBEB3B80B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FD81-48DD-A47C-1CCBBEB3B80B}"/>
              </c:ext>
            </c:extLst>
          </c:dPt>
          <c:dPt>
            <c:idx val="2"/>
            <c:invertIfNegative val="0"/>
            <c:bubble3D val="0"/>
            <c:spPr>
              <a:solidFill>
                <a:srgbClr val="F5A62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FD81-48DD-A47C-1CCBBEB3B80B}"/>
              </c:ext>
            </c:extLst>
          </c:dPt>
          <c:dPt>
            <c:idx val="3"/>
            <c:invertIfNegative val="0"/>
            <c:bubble3D val="0"/>
            <c:spPr>
              <a:solidFill>
                <a:srgbClr val="F5A62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FD81-48DD-A47C-1CCBBEB3B80B}"/>
              </c:ext>
            </c:extLst>
          </c:dPt>
          <c:dPt>
            <c:idx val="4"/>
            <c:invertIfNegative val="0"/>
            <c:bubble3D val="0"/>
            <c:spPr>
              <a:solidFill>
                <a:srgbClr val="F5A62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FD81-48DD-A47C-1CCBBEB3B80B}"/>
              </c:ext>
            </c:extLst>
          </c:dPt>
          <c:dPt>
            <c:idx val="5"/>
            <c:invertIfNegative val="0"/>
            <c:bubble3D val="0"/>
            <c:spPr>
              <a:solidFill>
                <a:srgbClr val="3B82F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FD81-48DD-A47C-1CCBBEB3B80B}"/>
              </c:ext>
            </c:extLst>
          </c:dPt>
          <c:dPt>
            <c:idx val="6"/>
            <c:invertIfNegative val="0"/>
            <c:bubble3D val="0"/>
            <c:spPr>
              <a:solidFill>
                <a:srgbClr val="3B82F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FD81-48DD-A47C-1CCBBEB3B80B}"/>
              </c:ext>
            </c:extLst>
          </c:dPt>
          <c:dPt>
            <c:idx val="7"/>
            <c:invertIfNegative val="0"/>
            <c:bubble3D val="0"/>
            <c:spPr>
              <a:solidFill>
                <a:srgbClr val="1A8A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FD81-48DD-A47C-1CCBBEB3B80B}"/>
              </c:ext>
            </c:extLst>
          </c:dPt>
          <c:dPt>
            <c:idx val="8"/>
            <c:invertIfNegative val="0"/>
            <c:bubble3D val="0"/>
            <c:spPr>
              <a:solidFill>
                <a:srgbClr val="1A8A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FD81-48DD-A47C-1CCBBEB3B80B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Sales</c:v>
                </c:pt>
                <c:pt idx="1">
                  <c:v>Marketing</c:v>
                </c:pt>
                <c:pt idx="2">
                  <c:v>Value Eng</c:v>
                </c:pt>
                <c:pt idx="3">
                  <c:v>Cust Support</c:v>
                </c:pt>
                <c:pt idx="4">
                  <c:v>Exec Mgmt</c:v>
                </c:pt>
                <c:pt idx="5">
                  <c:v>Ecosystem</c:v>
                </c:pt>
                <c:pt idx="6">
                  <c:v>Services</c:v>
                </c:pt>
                <c:pt idx="7">
                  <c:v>Operations</c:v>
                </c:pt>
                <c:pt idx="8">
                  <c:v>Legal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60.1</c:v>
                </c:pt>
                <c:pt idx="1">
                  <c:v>33.4</c:v>
                </c:pt>
                <c:pt idx="2">
                  <c:v>17.2</c:v>
                </c:pt>
                <c:pt idx="3">
                  <c:v>14.7</c:v>
                </c:pt>
                <c:pt idx="4">
                  <c:v>12.5</c:v>
                </c:pt>
                <c:pt idx="5">
                  <c:v>10</c:v>
                </c:pt>
                <c:pt idx="6">
                  <c:v>9</c:v>
                </c:pt>
                <c:pt idx="7">
                  <c:v>7.2</c:v>
                </c:pt>
                <c:pt idx="8">
                  <c:v>4.0999999999999996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FD81-48DD-A47C-1CCBBEB3B80B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535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Reduction (M kg)</c:v>
                </c:pt>
              </c:strCache>
            </c:strRef>
          </c:tx>
          <c:spPr>
            <a:solidFill>
              <a:srgbClr val="D64045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E19-474B-A22B-E8D3712981FD}"/>
              </c:ext>
            </c:extLst>
          </c:dPt>
          <c:dPt>
            <c:idx val="1"/>
            <c:invertIfNegative val="0"/>
            <c:bubble3D val="0"/>
            <c:spPr>
              <a:solidFill>
                <a:srgbClr val="F5A62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E19-474B-A22B-E8D3712981FD}"/>
              </c:ext>
            </c:extLst>
          </c:dPt>
          <c:dPt>
            <c:idx val="2"/>
            <c:invertIfNegative val="0"/>
            <c:bubble3D val="0"/>
            <c:spPr>
              <a:solidFill>
                <a:srgbClr val="0F5C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E19-474B-A22B-E8D3712981FD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2026 (Year 1)</c:v>
                </c:pt>
                <c:pt idx="1">
                  <c:v>2027 (Year 2)</c:v>
                </c:pt>
                <c:pt idx="2">
                  <c:v>2028 (Year 3)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47.9</c:v>
                </c:pt>
                <c:pt idx="1">
                  <c:v>69.900000000000006</c:v>
                </c:pt>
                <c:pt idx="2">
                  <c:v>87.3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E19-474B-A22B-E8D3712981FD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535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High-Carbon %</c:v>
                </c:pt>
              </c:strCache>
            </c:strRef>
          </c:tx>
          <c:spPr>
            <a:solidFill>
              <a:srgbClr val="D64045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7EDF-4577-8199-4781993C5DF7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7EDF-4577-8199-4781993C5DF7}"/>
              </c:ext>
            </c:extLst>
          </c:dPt>
          <c:dPt>
            <c:idx val="2"/>
            <c:invertIfNegative val="0"/>
            <c:bubble3D val="0"/>
            <c:spPr>
              <a:solidFill>
                <a:srgbClr val="F5A62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EDF-4577-8199-4781993C5DF7}"/>
              </c:ext>
            </c:extLst>
          </c:dPt>
          <c:dPt>
            <c:idx val="3"/>
            <c:invertIfNegative val="0"/>
            <c:bubble3D val="0"/>
            <c:spPr>
              <a:solidFill>
                <a:srgbClr val="3B82F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EDF-4577-8199-4781993C5DF7}"/>
              </c:ext>
            </c:extLst>
          </c:dPt>
          <c:dPt>
            <c:idx val="4"/>
            <c:invertIfNegative val="0"/>
            <c:bubble3D val="0"/>
            <c:spPr>
              <a:solidFill>
                <a:srgbClr val="1A8A5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EDF-4577-8199-4781993C5DF7}"/>
              </c:ext>
            </c:extLst>
          </c:dPt>
          <c:dPt>
            <c:idx val="5"/>
            <c:invertIfNegative val="0"/>
            <c:bubble3D val="0"/>
            <c:spPr>
              <a:solidFill>
                <a:srgbClr val="2EC47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EDF-4577-8199-4781993C5DF7}"/>
              </c:ext>
            </c:extLst>
          </c:dPt>
          <c:dPt>
            <c:idx val="6"/>
            <c:invertIfNegative val="0"/>
            <c:bubble3D val="0"/>
            <c:spPr>
              <a:solidFill>
                <a:srgbClr val="2EC47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EDF-4577-8199-4781993C5DF7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First Class</c:v>
                </c:pt>
                <c:pt idx="1">
                  <c:v>Business Class</c:v>
                </c:pt>
                <c:pt idx="2">
                  <c:v>Economy</c:v>
                </c:pt>
                <c:pt idx="3">
                  <c:v>BMW Diesel</c:v>
                </c:pt>
                <c:pt idx="4">
                  <c:v>VW Golf</c:v>
                </c:pt>
                <c:pt idx="5">
                  <c:v>EV</c:v>
                </c:pt>
                <c:pt idx="6">
                  <c:v>Train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62.9</c:v>
                </c:pt>
                <c:pt idx="1">
                  <c:v>56.4</c:v>
                </c:pt>
                <c:pt idx="2">
                  <c:v>21.4</c:v>
                </c:pt>
                <c:pt idx="3">
                  <c:v>10.7</c:v>
                </c:pt>
                <c:pt idx="4">
                  <c:v>5.2</c:v>
                </c:pt>
                <c:pt idx="5">
                  <c:v>5.0999999999999996</c:v>
                </c:pt>
                <c:pt idx="6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EDF-4577-8199-4781993C5DF7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2535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74430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F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EC47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0" y="164592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0F5C3A">
                    <a:alpha val="2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ZERO</a:t>
            </a:r>
            <a:endParaRPr lang="en-US" sz="96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3200400" cy="292608"/>
          </a:xfrm>
          <a:prstGeom prst="rect">
            <a:avLst/>
          </a:prstGeom>
          <a:solidFill>
            <a:srgbClr val="2EC47A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530352"/>
            <a:ext cx="3108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 ANALYTICS 2026 · CELONIS CAPSTONE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Decarbonizing Travel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Data-Driven Roadmap to Net Zero by 2030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25146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8E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Celonis spent $140M on business travel. 29% of those emissions are immediately avoidable.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063240"/>
            <a:ext cx="7772400" cy="0"/>
          </a:xfrm>
          <a:prstGeom prst="line">
            <a:avLst/>
          </a:prstGeom>
          <a:noFill/>
          <a:ln w="19050">
            <a:solidFill>
              <a:srgbClr val="1A8A5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8912" y="3246120"/>
            <a:ext cx="91440" cy="91440"/>
          </a:xfrm>
          <a:prstGeom prst="ellipse">
            <a:avLst/>
          </a:prstGeom>
          <a:solidFill>
            <a:srgbClr val="2EC47A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" y="3182112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178M kg CO₂e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21792" y="3557016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Emissions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73552" y="3246120"/>
            <a:ext cx="91440" cy="91440"/>
          </a:xfrm>
          <a:prstGeom prst="ellipse">
            <a:avLst/>
          </a:prstGeom>
          <a:solidFill>
            <a:srgbClr val="2EC47A"/>
          </a:solidFill>
          <a:ln/>
        </p:spPr>
      </p:sp>
      <p:sp>
        <p:nvSpPr>
          <p:cNvPr id="15" name="Text 13"/>
          <p:cNvSpPr/>
          <p:nvPr/>
        </p:nvSpPr>
        <p:spPr>
          <a:xfrm>
            <a:off x="3456432" y="3182112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456432" y="3557016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High-Carbon Trips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8192" y="3246120"/>
            <a:ext cx="91440" cy="91440"/>
          </a:xfrm>
          <a:prstGeom prst="ellipse">
            <a:avLst/>
          </a:prstGeom>
          <a:solidFill>
            <a:srgbClr val="2EC47A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3182112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52M kg/yr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291072" y="3557016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Addressable Reduction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8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INSIGHTS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4407408"/>
            <a:ext cx="100584" cy="100584"/>
          </a:xfrm>
          <a:prstGeom prst="ellipse">
            <a:avLst/>
          </a:prstGeom>
          <a:solidFill>
            <a:srgbClr val="2EC47A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" y="4352544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First Class flights = 44% of CO₂, 25% of trips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791456"/>
            <a:ext cx="100584" cy="100584"/>
          </a:xfrm>
          <a:prstGeom prst="ellipse">
            <a:avLst/>
          </a:prstGeom>
          <a:solidFill>
            <a:srgbClr val="2EC47A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473659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 (AU, CN, BR) accounts for 66% of total emissions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5175504"/>
            <a:ext cx="100584" cy="100584"/>
          </a:xfrm>
          <a:prstGeom prst="ellipse">
            <a:avLst/>
          </a:prstGeom>
          <a:solidFill>
            <a:srgbClr val="2EC47A"/>
          </a:solidFill>
          <a:ln/>
        </p:spPr>
      </p:sp>
      <p:sp>
        <p:nvSpPr>
          <p:cNvPr id="26" name="Text 24"/>
          <p:cNvSpPr/>
          <p:nvPr/>
        </p:nvSpPr>
        <p:spPr>
          <a:xfrm>
            <a:off x="658368" y="512064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18.4% of trips are Out-of-Policy — 1,100 kg excess CO₂ each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035040" y="402336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RECOMMENDATIONS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4407408"/>
            <a:ext cx="100584" cy="10058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9" name="Text 27"/>
          <p:cNvSpPr/>
          <p:nvPr/>
        </p:nvSpPr>
        <p:spPr>
          <a:xfrm>
            <a:off x="6236208" y="4352544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 Economy class → save 34.7M kg/yr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035040" y="4791456"/>
            <a:ext cx="100584" cy="10058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31" name="Text 29"/>
          <p:cNvSpPr/>
          <p:nvPr/>
        </p:nvSpPr>
        <p:spPr>
          <a:xfrm>
            <a:off x="6236208" y="4736592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approval gates to block OOP bookings → save 13.2M kg/yr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035040" y="5175504"/>
            <a:ext cx="100584" cy="10058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33" name="Text 31"/>
          <p:cNvSpPr/>
          <p:nvPr/>
        </p:nvSpPr>
        <p:spPr>
          <a:xfrm>
            <a:off x="6236208" y="51206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Rail-first policy for EU/intra-region routes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35" name="Text 33"/>
          <p:cNvSpPr/>
          <p:nvPr/>
        </p:nvSpPr>
        <p:spPr>
          <a:xfrm>
            <a:off x="365760" y="649224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Vaibhav Soni  ·  Summer Analytics 2026  ·  IIT Guwahati x Celonis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Emissions Profile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1005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Question 1: What does Celonis' current carbon footprint look like?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280160"/>
            <a:ext cx="2148840" cy="137160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1399032"/>
            <a:ext cx="1929384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178M kg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1993392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CO₂e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2350008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3 Travel Emissions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06040" y="1280160"/>
            <a:ext cx="2148840" cy="137160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15768" y="1399032"/>
            <a:ext cx="1929384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65,289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697480" y="1993392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Trips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697480" y="2350008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regions &amp; BUs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937760" y="1280160"/>
            <a:ext cx="2148840" cy="137160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47488" y="1399032"/>
            <a:ext cx="1929384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2,728 kg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029200" y="1993392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CO₂ / Trip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2350008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Equivalent: 15,000 km by car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269480" y="1280160"/>
            <a:ext cx="2148840" cy="137160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79208" y="1399032"/>
            <a:ext cx="1929384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25.0%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7360920" y="1993392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High-Carbon Trips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60920" y="2350008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16,326 trips above threshold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601200" y="1280160"/>
            <a:ext cx="2148840" cy="137160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710928" y="1399032"/>
            <a:ext cx="1929384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18.4%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9692640" y="1993392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Out-of-Policy Rate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692640" y="2350008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12,005 non-compliant trips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74320" y="2834640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CO₂e by Transport Mode (kg)</a:t>
            </a:r>
            <a:endParaRPr lang="en-US" sz="1200" dirty="0"/>
          </a:p>
        </p:txBody>
      </p:sp>
      <p:graphicFrame>
        <p:nvGraphicFramePr>
          <p:cNvPr id="27" name="Chart 0"/>
          <p:cNvGraphicFramePr/>
          <p:nvPr/>
        </p:nvGraphicFramePr>
        <p:xfrm>
          <a:off x="274320" y="3154680"/>
          <a:ext cx="713232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8" name="Shape 25"/>
          <p:cNvSpPr/>
          <p:nvPr/>
        </p:nvSpPr>
        <p:spPr>
          <a:xfrm>
            <a:off x="7589520" y="3154680"/>
            <a:ext cx="4251960" cy="3383280"/>
          </a:xfrm>
          <a:prstGeom prst="rect">
            <a:avLst/>
          </a:prstGeom>
          <a:solidFill>
            <a:srgbClr val="E8F5EE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772400" y="32918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8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680960" y="37033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✈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8092440" y="3703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 = 83.9% of all CO₂e (149M kg) but 66% of trips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680960" y="437083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💼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8092440" y="437083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Class alone = 41% of total CO₂, despite being avoidable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680960" y="503834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🚂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8092440" y="5038344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Trains emit 445 kg avg vs 4,865 kg for Business Class — 10.9x difference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680960" y="570585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8092440" y="5705856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(Fiat 500) = lowest road CO₂ at 1,066 kg avg. 36% less than diesel car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274320" y="6355080"/>
            <a:ext cx="7132320" cy="256032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39" name="Text 36"/>
          <p:cNvSpPr/>
          <p:nvPr/>
        </p:nvSpPr>
        <p:spPr>
          <a:xfrm>
            <a:off x="365760" y="6382512"/>
            <a:ext cx="6949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Class + First Class = 79.7M kg CO₂e — 44.7% of total emissions. Both are avoidable through policy.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Benchmarking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1005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Question 2: How do travel processes compare across North America, Europe, and Asia?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280160"/>
            <a:ext cx="2240280" cy="384048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280160"/>
            <a:ext cx="2240280" cy="411480"/>
          </a:xfrm>
          <a:prstGeom prst="rect">
            <a:avLst/>
          </a:prstGeom>
          <a:solidFill>
            <a:srgbClr val="D64045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298448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1810512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117.2M kg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65760" y="2212848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CO₂e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84048" y="2606040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Share: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280160" y="2606040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65.8%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84048" y="3081528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Trips: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280160" y="3081528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30,652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3557016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Rate: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280160" y="3557016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15.2%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84048" y="4032504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High-Carbon: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280160" y="4032504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40.4%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84048" y="4773168"/>
            <a:ext cx="2011680" cy="228600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20" name="Text 18"/>
          <p:cNvSpPr/>
          <p:nvPr/>
        </p:nvSpPr>
        <p:spPr>
          <a:xfrm>
            <a:off x="384048" y="4791456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EMITTER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651760" y="1280160"/>
            <a:ext cx="2240280" cy="384048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51760" y="1280160"/>
            <a:ext cx="2240280" cy="41148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0" y="1298448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LATAM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743200" y="1810512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39.7M kg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2743200" y="2212848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CO₂e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761488" y="2606040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Share: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0" y="2606040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761488" y="3081528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Trips: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657600" y="3081528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14,674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761488" y="3557016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Rate: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0" y="3557016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11.6%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761488" y="4032504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High-Carbon: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57600" y="4032504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20.9%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761488" y="4773168"/>
            <a:ext cx="2011680" cy="228600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35" name="Text 33"/>
          <p:cNvSpPr/>
          <p:nvPr/>
        </p:nvSpPr>
        <p:spPr>
          <a:xfrm>
            <a:off x="2761488" y="4791456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EMITTER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5029200" y="1280160"/>
            <a:ext cx="2240280" cy="384048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0" y="1280160"/>
            <a:ext cx="2240280" cy="4114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8" name="Text 36"/>
          <p:cNvSpPr/>
          <p:nvPr/>
        </p:nvSpPr>
        <p:spPr>
          <a:xfrm>
            <a:off x="5120640" y="1298448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120640" y="1810512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14.6M kg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5120640" y="2212848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CO₂e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138928" y="2606040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Share: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035040" y="2606040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138928" y="3081528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Trips: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035040" y="3081528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9,505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138928" y="3557016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Rate: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035040" y="3557016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30.1%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138928" y="4032504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High-Carbon: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035040" y="4032504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9.2%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138928" y="4773168"/>
            <a:ext cx="2011680" cy="228600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50" name="Text 48"/>
          <p:cNvSpPr/>
          <p:nvPr/>
        </p:nvSpPr>
        <p:spPr>
          <a:xfrm>
            <a:off x="5138928" y="4791456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OOP RATE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406640" y="1280160"/>
            <a:ext cx="2240280" cy="384048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406640" y="1280160"/>
            <a:ext cx="2240280" cy="411480"/>
          </a:xfrm>
          <a:prstGeom prst="rect">
            <a:avLst/>
          </a:prstGeom>
          <a:solidFill>
            <a:srgbClr val="2EC47A"/>
          </a:solidFill>
          <a:ln/>
        </p:spPr>
      </p:sp>
      <p:sp>
        <p:nvSpPr>
          <p:cNvPr id="53" name="Text 51"/>
          <p:cNvSpPr/>
          <p:nvPr/>
        </p:nvSpPr>
        <p:spPr>
          <a:xfrm>
            <a:off x="7498080" y="1298448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7498080" y="1810512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5.4M kg</a:t>
            </a:r>
            <a:endParaRPr lang="en-US" sz="1800" dirty="0"/>
          </a:p>
        </p:txBody>
      </p:sp>
      <p:sp>
        <p:nvSpPr>
          <p:cNvPr id="55" name="Text 53"/>
          <p:cNvSpPr/>
          <p:nvPr/>
        </p:nvSpPr>
        <p:spPr>
          <a:xfrm>
            <a:off x="7498080" y="2212848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CO₂e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7516368" y="2606040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Share: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8412480" y="2606040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3.1%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516368" y="3081528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Trips: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412480" y="3081528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9,047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516368" y="3557016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Rate: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8412480" y="3557016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27.8%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7516368" y="4032504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High-Carbon: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8412480" y="4032504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0.0%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7516368" y="4773168"/>
            <a:ext cx="2011680" cy="228600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65" name="Text 63"/>
          <p:cNvSpPr/>
          <p:nvPr/>
        </p:nvSpPr>
        <p:spPr>
          <a:xfrm>
            <a:off x="7516368" y="4791456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CLEANEST TRAVEL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9784080" y="1280160"/>
            <a:ext cx="2240280" cy="384048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784080" y="1280160"/>
            <a:ext cx="224028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68" name="Text 66"/>
          <p:cNvSpPr/>
          <p:nvPr/>
        </p:nvSpPr>
        <p:spPr>
          <a:xfrm>
            <a:off x="9875520" y="1298448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9875520" y="1810512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1.1M kg</a:t>
            </a:r>
            <a:endParaRPr lang="en-US" sz="1800" dirty="0"/>
          </a:p>
        </p:txBody>
      </p:sp>
      <p:sp>
        <p:nvSpPr>
          <p:cNvPr id="70" name="Text 68"/>
          <p:cNvSpPr/>
          <p:nvPr/>
        </p:nvSpPr>
        <p:spPr>
          <a:xfrm>
            <a:off x="9875520" y="2212848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CO₂e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9893808" y="2606040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Share: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10789920" y="2606040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0.6%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9893808" y="3081528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Trips: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10789920" y="3081528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1,411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9893808" y="3557016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Rate: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10789920" y="3557016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19.8%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9893808" y="4032504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High-Carbon: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0789920" y="4032504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0.0%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9893808" y="4773168"/>
            <a:ext cx="2011680" cy="228600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80" name="Text 78"/>
          <p:cNvSpPr/>
          <p:nvPr/>
        </p:nvSpPr>
        <p:spPr>
          <a:xfrm>
            <a:off x="9893808" y="4791456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VOLUME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274320" y="5257800"/>
            <a:ext cx="11612880" cy="1325880"/>
          </a:xfrm>
          <a:prstGeom prst="rect">
            <a:avLst/>
          </a:prstGeom>
          <a:solidFill>
            <a:srgbClr val="0D1F1A"/>
          </a:solidFill>
          <a:ln/>
        </p:spPr>
      </p:sp>
      <p:sp>
        <p:nvSpPr>
          <p:cNvPr id="82" name="Text 80"/>
          <p:cNvSpPr/>
          <p:nvPr/>
        </p:nvSpPr>
        <p:spPr>
          <a:xfrm>
            <a:off x="457200" y="53492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INSIGHT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457200" y="5742432"/>
            <a:ext cx="82296" cy="82296"/>
          </a:xfrm>
          <a:prstGeom prst="ellipse">
            <a:avLst/>
          </a:prstGeom>
          <a:solidFill>
            <a:srgbClr val="2EC47A"/>
          </a:solidFill>
          <a:ln/>
        </p:spPr>
      </p:sp>
      <p:sp>
        <p:nvSpPr>
          <p:cNvPr id="84" name="Text 82"/>
          <p:cNvSpPr/>
          <p:nvPr/>
        </p:nvSpPr>
        <p:spPr>
          <a:xfrm>
            <a:off x="621792" y="5687568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APAC: 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621792" y="5870448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E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 alone emits 89.4M kg — 50% of Celonis' total. Long-haul intercontinental flights at business class are the primary driver.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4343400" y="5742432"/>
            <a:ext cx="82296" cy="82296"/>
          </a:xfrm>
          <a:prstGeom prst="ellipse">
            <a:avLst/>
          </a:prstGeom>
          <a:solidFill>
            <a:srgbClr val="2EC47A"/>
          </a:solidFill>
          <a:ln/>
        </p:spPr>
      </p:sp>
      <p:sp>
        <p:nvSpPr>
          <p:cNvPr id="87" name="Text 85"/>
          <p:cNvSpPr/>
          <p:nvPr/>
        </p:nvSpPr>
        <p:spPr>
          <a:xfrm>
            <a:off x="4507992" y="5687568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NA: 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4507992" y="5870448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E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30.1% OOP rate (highest globally). Greater automation of pre-approval in US can prevent high-emission, non-compliant bookings.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8229600" y="5742432"/>
            <a:ext cx="82296" cy="82296"/>
          </a:xfrm>
          <a:prstGeom prst="ellipse">
            <a:avLst/>
          </a:prstGeom>
          <a:solidFill>
            <a:srgbClr val="2EC47A"/>
          </a:solidFill>
          <a:ln/>
        </p:spPr>
      </p:sp>
      <p:sp>
        <p:nvSpPr>
          <p:cNvPr id="90" name="Text 88"/>
          <p:cNvSpPr/>
          <p:nvPr/>
        </p:nvSpPr>
        <p:spPr>
          <a:xfrm>
            <a:off x="8394192" y="5687568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Europe: 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8394192" y="5870448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E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High-Carbon trips, 601 kg avg CO₂ — enabled by rail availability. Europe proves that low-carbon travel at scale is achievable.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Hotspot Identification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1005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Question 3: Which regions, business units, and travel purposes drive disproportionate emissions?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126187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CO₂e by Business Unit (M kg)</a:t>
            </a:r>
            <a:endParaRPr lang="en-US" sz="11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274320" y="1572768"/>
          <a:ext cx="539496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5943600" y="1261872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CO₂e by Trip Purpose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943600" y="1627632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Visit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943600" y="1901952"/>
            <a:ext cx="4582241" cy="256032"/>
          </a:xfrm>
          <a:prstGeom prst="rect">
            <a:avLst/>
          </a:prstGeom>
          <a:solidFill>
            <a:srgbClr val="D64045"/>
          </a:solidFill>
          <a:ln/>
        </p:spPr>
      </p:sp>
      <p:sp>
        <p:nvSpPr>
          <p:cNvPr id="11" name="Shape 8"/>
          <p:cNvSpPr/>
          <p:nvPr/>
        </p:nvSpPr>
        <p:spPr>
          <a:xfrm>
            <a:off x="5943600" y="1901952"/>
            <a:ext cx="5303520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082528" y="192024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76.9M kg (43.2%)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5943600" y="2313432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Conference/Exhibition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943600" y="2587752"/>
            <a:ext cx="3754892" cy="25603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5" name="Shape 12"/>
          <p:cNvSpPr/>
          <p:nvPr/>
        </p:nvSpPr>
        <p:spPr>
          <a:xfrm>
            <a:off x="5943600" y="2587752"/>
            <a:ext cx="5303520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082528" y="260604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63M kg (35.4%)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5943600" y="2999232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Business Trip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943600" y="3273552"/>
            <a:ext cx="1219810" cy="2560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9" name="Shape 16"/>
          <p:cNvSpPr/>
          <p:nvPr/>
        </p:nvSpPr>
        <p:spPr>
          <a:xfrm>
            <a:off x="5943600" y="3273552"/>
            <a:ext cx="5303520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1082528" y="329184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20.4M kg (11.5%)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5943600" y="3685032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Enablement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943600" y="3959352"/>
            <a:ext cx="753100" cy="256032"/>
          </a:xfrm>
          <a:prstGeom prst="rect">
            <a:avLst/>
          </a:prstGeom>
          <a:solidFill>
            <a:srgbClr val="1A8A57"/>
          </a:solidFill>
          <a:ln/>
        </p:spPr>
      </p:sp>
      <p:sp>
        <p:nvSpPr>
          <p:cNvPr id="23" name="Shape 20"/>
          <p:cNvSpPr/>
          <p:nvPr/>
        </p:nvSpPr>
        <p:spPr>
          <a:xfrm>
            <a:off x="5943600" y="3959352"/>
            <a:ext cx="5303520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1082528" y="397764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8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12.6M kg (7.1%)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5943600" y="4370832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Visit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943600" y="4645152"/>
            <a:ext cx="296997" cy="256032"/>
          </a:xfrm>
          <a:prstGeom prst="rect">
            <a:avLst/>
          </a:prstGeom>
          <a:solidFill>
            <a:srgbClr val="2EC47A"/>
          </a:solidFill>
          <a:ln/>
        </p:spPr>
      </p:sp>
      <p:sp>
        <p:nvSpPr>
          <p:cNvPr id="27" name="Shape 24"/>
          <p:cNvSpPr/>
          <p:nvPr/>
        </p:nvSpPr>
        <p:spPr>
          <a:xfrm>
            <a:off x="5943600" y="4645152"/>
            <a:ext cx="5303520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1082528" y="466344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5.1M kg (2.8%)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274320" y="4590288"/>
            <a:ext cx="11612880" cy="1993392"/>
          </a:xfrm>
          <a:prstGeom prst="rect">
            <a:avLst/>
          </a:prstGeom>
          <a:solidFill>
            <a:srgbClr val="E8F5EE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57200" y="46817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EMISSION HOTSPOTS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457200" y="501091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💼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841248" y="5010912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Class Flights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475488" y="5303520"/>
            <a:ext cx="2788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OOP rate + 4,865 kg avg CO₂. Sales BU is the top booker.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3383280" y="501091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🌏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3767328" y="5010912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 Long-Haul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3401568" y="5303520"/>
            <a:ext cx="2788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and CN combined = 65% of all emissions. All flights, no rail alternative.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309360" y="501091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👤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693408" y="5010912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Visits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6327648" y="5303520"/>
            <a:ext cx="2788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43% of total CO₂. Sales-driven urgency leads to premium class bookings.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9235440" y="501091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⚠</a:t>
            </a:r>
            <a:endParaRPr lang="en-US" sz="1600" dirty="0"/>
          </a:p>
        </p:txBody>
      </p:sp>
      <p:sp>
        <p:nvSpPr>
          <p:cNvPr id="41" name="Text 38"/>
          <p:cNvSpPr/>
          <p:nvPr/>
        </p:nvSpPr>
        <p:spPr>
          <a:xfrm>
            <a:off x="9619488" y="5010912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Out-of-Policy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9253728" y="5303520"/>
            <a:ext cx="2788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30.1% OOP — highest globally. Pre-approval gaps let high-carbon trips through.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Pain Points &amp; Inefficiencies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1005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Question 4: Where are the operational bottlenecks driving excess emissions?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96752" y="3371687"/>
            <a:ext cx="11612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PROCESS FLOW — Volume at Each Stage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94288" y="1424015"/>
            <a:ext cx="1143000" cy="1965960"/>
          </a:xfrm>
          <a:prstGeom prst="rect">
            <a:avLst/>
          </a:prstGeom>
          <a:solidFill>
            <a:srgbClr val="1A8A57"/>
          </a:solidFill>
          <a:ln/>
        </p:spPr>
      </p:sp>
      <p:sp>
        <p:nvSpPr>
          <p:cNvPr id="8" name="Text 6"/>
          <p:cNvSpPr/>
          <p:nvPr/>
        </p:nvSpPr>
        <p:spPr>
          <a:xfrm>
            <a:off x="221136" y="3463127"/>
            <a:ext cx="12984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Transport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294288" y="1167983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A8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601880" y="1602649"/>
            <a:ext cx="1143000" cy="1787326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1" name="Text 9"/>
          <p:cNvSpPr/>
          <p:nvPr/>
        </p:nvSpPr>
        <p:spPr>
          <a:xfrm>
            <a:off x="1528728" y="3463127"/>
            <a:ext cx="12984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Lodging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601880" y="1346617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60K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909472" y="1485106"/>
            <a:ext cx="1143000" cy="1904869"/>
          </a:xfrm>
          <a:prstGeom prst="rect">
            <a:avLst/>
          </a:prstGeom>
          <a:solidFill>
            <a:srgbClr val="1A8A57"/>
          </a:solidFill>
          <a:ln/>
        </p:spPr>
      </p:sp>
      <p:sp>
        <p:nvSpPr>
          <p:cNvPr id="14" name="Text 12"/>
          <p:cNvSpPr/>
          <p:nvPr/>
        </p:nvSpPr>
        <p:spPr>
          <a:xfrm>
            <a:off x="2836320" y="3463127"/>
            <a:ext cx="12984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Request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909472" y="1229074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A8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65K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217064" y="2643745"/>
            <a:ext cx="1143000" cy="74623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7" name="Text 15"/>
          <p:cNvSpPr/>
          <p:nvPr/>
        </p:nvSpPr>
        <p:spPr>
          <a:xfrm>
            <a:off x="4143912" y="3463127"/>
            <a:ext cx="12984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Pre-Approve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217064" y="2387713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11K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524656" y="1534644"/>
            <a:ext cx="1143000" cy="1855331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0" name="Text 18"/>
          <p:cNvSpPr/>
          <p:nvPr/>
        </p:nvSpPr>
        <p:spPr>
          <a:xfrm>
            <a:off x="5451504" y="3463127"/>
            <a:ext cx="12984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5524656" y="1278612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63K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832248" y="1990880"/>
            <a:ext cx="1143000" cy="1399095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3" name="Text 21"/>
          <p:cNvSpPr/>
          <p:nvPr/>
        </p:nvSpPr>
        <p:spPr>
          <a:xfrm>
            <a:off x="6759096" y="3463127"/>
            <a:ext cx="12984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832248" y="1734848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42K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8139840" y="1536340"/>
            <a:ext cx="1143000" cy="1853635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6" name="Text 24"/>
          <p:cNvSpPr/>
          <p:nvPr/>
        </p:nvSpPr>
        <p:spPr>
          <a:xfrm>
            <a:off x="8066688" y="3463127"/>
            <a:ext cx="12984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Submit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8139840" y="1280308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63K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447432" y="1537543"/>
            <a:ext cx="1143000" cy="185243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9" name="Text 27"/>
          <p:cNvSpPr/>
          <p:nvPr/>
        </p:nvSpPr>
        <p:spPr>
          <a:xfrm>
            <a:off x="9374280" y="3463127"/>
            <a:ext cx="12984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Approved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9447432" y="1281511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63K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10755024" y="1537543"/>
            <a:ext cx="1143000" cy="185243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2" name="Text 30"/>
          <p:cNvSpPr/>
          <p:nvPr/>
        </p:nvSpPr>
        <p:spPr>
          <a:xfrm>
            <a:off x="10681872" y="3463127"/>
            <a:ext cx="12984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Reimbursement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10755024" y="1281511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63K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74320" y="3886200"/>
            <a:ext cx="3749040" cy="114300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4320" y="3886200"/>
            <a:ext cx="182880" cy="1143000"/>
          </a:xfrm>
          <a:prstGeom prst="rect">
            <a:avLst/>
          </a:prstGeom>
          <a:solidFill>
            <a:srgbClr val="D64045"/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" y="3959352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12,005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548640" y="438912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Out-of-Policy Trips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48640" y="463600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18.4% non-compliant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1,100 kg excess CO₂ each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297680" y="3886200"/>
            <a:ext cx="3749040" cy="114300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297680" y="3886200"/>
            <a:ext cx="182880" cy="11430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0" y="3959352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2,441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4572000" y="438912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of Transport Changes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572000" y="463600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wrong mode first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waste + rebooking emissions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8321040" y="3886200"/>
            <a:ext cx="3749040" cy="114300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321040" y="3886200"/>
            <a:ext cx="182880" cy="11430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46" name="Text 44"/>
          <p:cNvSpPr/>
          <p:nvPr/>
        </p:nvSpPr>
        <p:spPr>
          <a:xfrm>
            <a:off x="8595360" y="3959352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11,691</a:t>
            </a:r>
            <a:endParaRPr lang="en-US" sz="2600" dirty="0"/>
          </a:p>
        </p:txBody>
      </p:sp>
      <p:sp>
        <p:nvSpPr>
          <p:cNvPr id="47" name="Text 45"/>
          <p:cNvSpPr/>
          <p:nvPr/>
        </p:nvSpPr>
        <p:spPr>
          <a:xfrm>
            <a:off x="8595360" y="438912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Trips with Changes/Edits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95360" y="463600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17.9% of all trips modified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Last-minute changes = premium prices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274320" y="5166360"/>
            <a:ext cx="3749040" cy="114300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74320" y="5166360"/>
            <a:ext cx="182880" cy="11430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1" name="Text 49"/>
          <p:cNvSpPr/>
          <p:nvPr/>
        </p:nvSpPr>
        <p:spPr>
          <a:xfrm>
            <a:off x="548640" y="5239512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9.2%</a:t>
            </a:r>
            <a:endParaRPr lang="en-US" sz="2600" dirty="0"/>
          </a:p>
        </p:txBody>
      </p:sp>
      <p:sp>
        <p:nvSpPr>
          <p:cNvPr id="52" name="Text 50"/>
          <p:cNvSpPr/>
          <p:nvPr/>
        </p:nvSpPr>
        <p:spPr>
          <a:xfrm>
            <a:off x="548640" y="56692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Extensions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48640" y="591616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5,989 extensions approved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carbon impact review at extension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297680" y="5166360"/>
            <a:ext cx="3749040" cy="114300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297680" y="5166360"/>
            <a:ext cx="182880" cy="11430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6" name="Text 54"/>
          <p:cNvSpPr/>
          <p:nvPr/>
        </p:nvSpPr>
        <p:spPr>
          <a:xfrm>
            <a:off x="4572000" y="5239512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3,993</a:t>
            </a:r>
            <a:endParaRPr lang="en-US" sz="2600" dirty="0"/>
          </a:p>
        </p:txBody>
      </p:sp>
      <p:sp>
        <p:nvSpPr>
          <p:cNvPr id="57" name="Text 55"/>
          <p:cNvSpPr/>
          <p:nvPr/>
        </p:nvSpPr>
        <p:spPr>
          <a:xfrm>
            <a:off x="4572000" y="56692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Disrupted Trips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572000" y="591616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6.1% face cancellations/delays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flights = rebooking in higher class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8321040" y="5166360"/>
            <a:ext cx="3749040" cy="114300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321040" y="5166360"/>
            <a:ext cx="182880" cy="1143000"/>
          </a:xfrm>
          <a:prstGeom prst="rect">
            <a:avLst/>
          </a:prstGeom>
          <a:solidFill>
            <a:srgbClr val="D64045"/>
          </a:solidFill>
          <a:ln/>
        </p:spPr>
      </p:sp>
      <p:sp>
        <p:nvSpPr>
          <p:cNvPr id="61" name="Text 59"/>
          <p:cNvSpPr/>
          <p:nvPr/>
        </p:nvSpPr>
        <p:spPr>
          <a:xfrm>
            <a:off x="8595360" y="5239512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47%</a:t>
            </a:r>
            <a:endParaRPr lang="en-US" sz="2600" dirty="0"/>
          </a:p>
        </p:txBody>
      </p:sp>
      <p:sp>
        <p:nvSpPr>
          <p:cNvPr id="62" name="Text 60"/>
          <p:cNvSpPr/>
          <p:nvPr/>
        </p:nvSpPr>
        <p:spPr>
          <a:xfrm>
            <a:off x="8595360" y="566928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 Trips are OOP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8595360" y="591616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Class has highest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non-compliance rate of any mode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 Recommendations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1005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Question 5: What specific policy updates should be made and what value will they generate over 3 years?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" y="1261872"/>
            <a:ext cx="5760720" cy="251460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1261872"/>
            <a:ext cx="5760720" cy="457200"/>
          </a:xfrm>
          <a:prstGeom prst="rect">
            <a:avLst/>
          </a:prstGeom>
          <a:solidFill>
            <a:srgbClr val="D64045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30759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Economy-First Flight Policy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17720" y="1325880"/>
            <a:ext cx="1234440" cy="320040"/>
          </a:xfrm>
          <a:prstGeom prst="rect">
            <a:avLst/>
          </a:prstGeom>
          <a:solidFill>
            <a:srgbClr val="D4EDE0"/>
          </a:solidFill>
          <a:ln/>
        </p:spPr>
      </p:sp>
      <p:sp>
        <p:nvSpPr>
          <p:cNvPr id="10" name="Text 8"/>
          <p:cNvSpPr/>
          <p:nvPr/>
        </p:nvSpPr>
        <p:spPr>
          <a:xfrm>
            <a:off x="4636008" y="135331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34.7M kg/yr saved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93192" y="1828800"/>
            <a:ext cx="82296" cy="82296"/>
          </a:xfrm>
          <a:prstGeom prst="ellipse">
            <a:avLst/>
          </a:prstGeom>
          <a:solidFill>
            <a:srgbClr val="D64045"/>
          </a:solidFill>
          <a:ln/>
        </p:spPr>
      </p:sp>
      <p:sp>
        <p:nvSpPr>
          <p:cNvPr id="12" name="Text 10"/>
          <p:cNvSpPr/>
          <p:nvPr/>
        </p:nvSpPr>
        <p:spPr>
          <a:xfrm>
            <a:off x="557784" y="1773936"/>
            <a:ext cx="5257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 Economy Class for all trips by default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93192" y="2304288"/>
            <a:ext cx="82296" cy="82296"/>
          </a:xfrm>
          <a:prstGeom prst="ellipse">
            <a:avLst/>
          </a:prstGeom>
          <a:solidFill>
            <a:srgbClr val="D64045"/>
          </a:solidFill>
          <a:ln/>
        </p:spPr>
      </p:sp>
      <p:sp>
        <p:nvSpPr>
          <p:cNvPr id="14" name="Text 12"/>
          <p:cNvSpPr/>
          <p:nvPr/>
        </p:nvSpPr>
        <p:spPr>
          <a:xfrm>
            <a:off x="557784" y="2249424"/>
            <a:ext cx="5257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Class requires VP+ sign-off + justification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93192" y="2779776"/>
            <a:ext cx="82296" cy="82296"/>
          </a:xfrm>
          <a:prstGeom prst="ellipse">
            <a:avLst/>
          </a:prstGeom>
          <a:solidFill>
            <a:srgbClr val="D64045"/>
          </a:solidFill>
          <a:ln/>
        </p:spPr>
      </p:sp>
      <p:sp>
        <p:nvSpPr>
          <p:cNvPr id="16" name="Text 14"/>
          <p:cNvSpPr/>
          <p:nvPr/>
        </p:nvSpPr>
        <p:spPr>
          <a:xfrm>
            <a:off x="557784" y="2724912"/>
            <a:ext cx="5257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flag at booking stage if premium class selected without approval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" y="3364992"/>
            <a:ext cx="5486400" cy="320040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3392424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Business Class → Economy: 15,035 trips × (4,865−2,555) = 34.7M kg/yr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6217920" y="1261872"/>
            <a:ext cx="5760720" cy="251460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1261872"/>
            <a:ext cx="5760720" cy="4572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1" name="Text 19"/>
          <p:cNvSpPr/>
          <p:nvPr/>
        </p:nvSpPr>
        <p:spPr>
          <a:xfrm>
            <a:off x="6355080" y="130759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AI-Powered OOP Prevention Gate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0607040" y="1325880"/>
            <a:ext cx="1234440" cy="320040"/>
          </a:xfrm>
          <a:prstGeom prst="rect">
            <a:avLst/>
          </a:prstGeom>
          <a:solidFill>
            <a:srgbClr val="D4EDE0"/>
          </a:solidFill>
          <a:ln/>
        </p:spPr>
      </p:sp>
      <p:sp>
        <p:nvSpPr>
          <p:cNvPr id="23" name="Text 21"/>
          <p:cNvSpPr/>
          <p:nvPr/>
        </p:nvSpPr>
        <p:spPr>
          <a:xfrm>
            <a:off x="10625328" y="135331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13.2M kg/yr saved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382512" y="1828800"/>
            <a:ext cx="82296" cy="82296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5" name="Text 23"/>
          <p:cNvSpPr/>
          <p:nvPr/>
        </p:nvSpPr>
        <p:spPr>
          <a:xfrm>
            <a:off x="6547104" y="1773936"/>
            <a:ext cx="5257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Celonis AI agent at booking submission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82512" y="2304288"/>
            <a:ext cx="82296" cy="82296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7" name="Text 25"/>
          <p:cNvSpPr/>
          <p:nvPr/>
        </p:nvSpPr>
        <p:spPr>
          <a:xfrm>
            <a:off x="6547104" y="2249424"/>
            <a:ext cx="5257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Auto-reject OOP requests without pre-approval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382512" y="2779776"/>
            <a:ext cx="82296" cy="82296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9" name="Text 27"/>
          <p:cNvSpPr/>
          <p:nvPr/>
        </p:nvSpPr>
        <p:spPr>
          <a:xfrm>
            <a:off x="6547104" y="2724912"/>
            <a:ext cx="5257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carbon score shown before confirmation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355080" y="3364992"/>
            <a:ext cx="5486400" cy="320040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3392424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12,005 OOP trips × 1,100 kg excess = 13.2M kg/yr recovered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28600" y="3959352"/>
            <a:ext cx="5760720" cy="251460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8600" y="3959352"/>
            <a:ext cx="5760720" cy="457200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34" name="Text 32"/>
          <p:cNvSpPr/>
          <p:nvPr/>
        </p:nvSpPr>
        <p:spPr>
          <a:xfrm>
            <a:off x="365760" y="400507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🚂 Rail-First for Intra-Europe Routes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617720" y="4023360"/>
            <a:ext cx="1234440" cy="320040"/>
          </a:xfrm>
          <a:prstGeom prst="rect">
            <a:avLst/>
          </a:prstGeom>
          <a:solidFill>
            <a:srgbClr val="D4EDE0"/>
          </a:solidFill>
          <a:ln/>
        </p:spPr>
      </p:sp>
      <p:sp>
        <p:nvSpPr>
          <p:cNvPr id="36" name="Text 34"/>
          <p:cNvSpPr/>
          <p:nvPr/>
        </p:nvSpPr>
        <p:spPr>
          <a:xfrm>
            <a:off x="4636008" y="405079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4.1M kg/yr saved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93192" y="4526280"/>
            <a:ext cx="82296" cy="82296"/>
          </a:xfrm>
          <a:prstGeom prst="ellipse">
            <a:avLst/>
          </a:prstGeom>
          <a:solidFill>
            <a:srgbClr val="0F5C3A"/>
          </a:solidFill>
          <a:ln/>
        </p:spPr>
      </p:sp>
      <p:sp>
        <p:nvSpPr>
          <p:cNvPr id="38" name="Text 36"/>
          <p:cNvSpPr/>
          <p:nvPr/>
        </p:nvSpPr>
        <p:spPr>
          <a:xfrm>
            <a:off x="557784" y="4471416"/>
            <a:ext cx="5257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EU intra-continental routes &lt;6hr → mandatory train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93192" y="5001768"/>
            <a:ext cx="82296" cy="82296"/>
          </a:xfrm>
          <a:prstGeom prst="ellipse">
            <a:avLst/>
          </a:prstGeom>
          <a:solidFill>
            <a:srgbClr val="0F5C3A"/>
          </a:solidFill>
          <a:ln/>
        </p:spPr>
      </p:sp>
      <p:sp>
        <p:nvSpPr>
          <p:cNvPr id="40" name="Text 38"/>
          <p:cNvSpPr/>
          <p:nvPr/>
        </p:nvSpPr>
        <p:spPr>
          <a:xfrm>
            <a:off x="557784" y="4946904"/>
            <a:ext cx="5257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Celonis workflow auto-routes to rail options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93192" y="5477256"/>
            <a:ext cx="82296" cy="82296"/>
          </a:xfrm>
          <a:prstGeom prst="ellipse">
            <a:avLst/>
          </a:prstGeom>
          <a:solidFill>
            <a:srgbClr val="0F5C3A"/>
          </a:solidFill>
          <a:ln/>
        </p:spPr>
      </p:sp>
      <p:sp>
        <p:nvSpPr>
          <p:cNvPr id="42" name="Text 40"/>
          <p:cNvSpPr/>
          <p:nvPr/>
        </p:nvSpPr>
        <p:spPr>
          <a:xfrm>
            <a:off x="557784" y="5422392"/>
            <a:ext cx="5257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CO₂ = 445 kg vs 2,554 kg economy flight (5.7x)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65760" y="6062472"/>
            <a:ext cx="5486400" cy="320040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44" name="Text 42"/>
          <p:cNvSpPr/>
          <p:nvPr/>
        </p:nvSpPr>
        <p:spPr>
          <a:xfrm>
            <a:off x="411480" y="6089904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0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European flights → train conversion; 0% high-carbon in Europe proves rail works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217920" y="3959352"/>
            <a:ext cx="5760720" cy="251460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17920" y="3959352"/>
            <a:ext cx="5760720" cy="457200"/>
          </a:xfrm>
          <a:prstGeom prst="rect">
            <a:avLst/>
          </a:prstGeom>
          <a:solidFill>
            <a:srgbClr val="1A8A57"/>
          </a:solidFill>
          <a:ln/>
        </p:spPr>
      </p:sp>
      <p:sp>
        <p:nvSpPr>
          <p:cNvPr id="47" name="Text 45"/>
          <p:cNvSpPr/>
          <p:nvPr/>
        </p:nvSpPr>
        <p:spPr>
          <a:xfrm>
            <a:off x="6355080" y="400507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EV Rental Standard in Target Markets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10607040" y="4023360"/>
            <a:ext cx="1234440" cy="320040"/>
          </a:xfrm>
          <a:prstGeom prst="rect">
            <a:avLst/>
          </a:prstGeom>
          <a:solidFill>
            <a:srgbClr val="D4EDE0"/>
          </a:solidFill>
          <a:ln/>
        </p:spPr>
      </p:sp>
      <p:sp>
        <p:nvSpPr>
          <p:cNvPr id="49" name="Text 47"/>
          <p:cNvSpPr/>
          <p:nvPr/>
        </p:nvSpPr>
        <p:spPr>
          <a:xfrm>
            <a:off x="10625328" y="405079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2.4M kg/yr saved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382512" y="4526280"/>
            <a:ext cx="82296" cy="82296"/>
          </a:xfrm>
          <a:prstGeom prst="ellipse">
            <a:avLst/>
          </a:prstGeom>
          <a:solidFill>
            <a:srgbClr val="1A8A57"/>
          </a:solidFill>
          <a:ln/>
        </p:spPr>
      </p:sp>
      <p:sp>
        <p:nvSpPr>
          <p:cNvPr id="51" name="Text 49"/>
          <p:cNvSpPr/>
          <p:nvPr/>
        </p:nvSpPr>
        <p:spPr>
          <a:xfrm>
            <a:off x="6547104" y="4471416"/>
            <a:ext cx="5257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BMW/VW diesel fleet cars with EV where available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382512" y="5001768"/>
            <a:ext cx="82296" cy="82296"/>
          </a:xfrm>
          <a:prstGeom prst="ellipse">
            <a:avLst/>
          </a:prstGeom>
          <a:solidFill>
            <a:srgbClr val="1A8A57"/>
          </a:solidFill>
          <a:ln/>
        </p:spPr>
      </p:sp>
      <p:sp>
        <p:nvSpPr>
          <p:cNvPr id="53" name="Text 51"/>
          <p:cNvSpPr/>
          <p:nvPr/>
        </p:nvSpPr>
        <p:spPr>
          <a:xfrm>
            <a:off x="6547104" y="4946904"/>
            <a:ext cx="5257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Fiat EV = 1,066 kg vs BMW diesel 1,664 kg (36% lower)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6382512" y="5477256"/>
            <a:ext cx="82296" cy="82296"/>
          </a:xfrm>
          <a:prstGeom prst="ellipse">
            <a:avLst/>
          </a:prstGeom>
          <a:solidFill>
            <a:srgbClr val="1A8A57"/>
          </a:solidFill>
          <a:ln/>
        </p:spPr>
      </p:sp>
      <p:sp>
        <p:nvSpPr>
          <p:cNvPr id="55" name="Text 53"/>
          <p:cNvSpPr/>
          <p:nvPr/>
        </p:nvSpPr>
        <p:spPr>
          <a:xfrm>
            <a:off x="6547104" y="5422392"/>
            <a:ext cx="5257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diesel cars out of UK, DE, NL by 2026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355080" y="6062472"/>
            <a:ext cx="5486400" cy="320040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0" y="6089904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1A8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6,648 diesel rentals × 598 kg avg difference = 3.97M kg potential</a:t>
            </a:r>
            <a:endParaRPr lang="en-US" sz="7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Roadmap to Net Zero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1005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Implementation Timeline &amp; Projected Carbon Impact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298448"/>
            <a:ext cx="3749040" cy="502920"/>
          </a:xfrm>
          <a:prstGeom prst="rect">
            <a:avLst/>
          </a:prstGeom>
          <a:solidFill>
            <a:srgbClr val="D64045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316736"/>
            <a:ext cx="822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188720" y="138988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WINS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023360" y="1545336"/>
            <a:ext cx="228600" cy="0"/>
          </a:xfrm>
          <a:prstGeom prst="line">
            <a:avLst/>
          </a:prstGeom>
          <a:noFill/>
          <a:ln w="25400">
            <a:solidFill>
              <a:srgbClr val="D640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1828800"/>
            <a:ext cx="3749040" cy="292608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8912" y="1993392"/>
            <a:ext cx="82296" cy="82296"/>
          </a:xfrm>
          <a:prstGeom prst="ellipse">
            <a:avLst/>
          </a:prstGeom>
          <a:solidFill>
            <a:srgbClr val="D64045"/>
          </a:solidFill>
          <a:ln/>
        </p:spPr>
      </p:sp>
      <p:sp>
        <p:nvSpPr>
          <p:cNvPr id="12" name="Text 10"/>
          <p:cNvSpPr/>
          <p:nvPr/>
        </p:nvSpPr>
        <p:spPr>
          <a:xfrm>
            <a:off x="603504" y="193852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Celonis AI booking gate (OOP block)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8912" y="2651760"/>
            <a:ext cx="82296" cy="82296"/>
          </a:xfrm>
          <a:prstGeom prst="ellipse">
            <a:avLst/>
          </a:prstGeom>
          <a:solidFill>
            <a:srgbClr val="D64045"/>
          </a:solidFill>
          <a:ln/>
        </p:spPr>
      </p:sp>
      <p:sp>
        <p:nvSpPr>
          <p:cNvPr id="14" name="Text 12"/>
          <p:cNvSpPr/>
          <p:nvPr/>
        </p:nvSpPr>
        <p:spPr>
          <a:xfrm>
            <a:off x="603504" y="259689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Economy-class default policy enforced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38912" y="3310128"/>
            <a:ext cx="82296" cy="82296"/>
          </a:xfrm>
          <a:prstGeom prst="ellipse">
            <a:avLst/>
          </a:prstGeom>
          <a:solidFill>
            <a:srgbClr val="D64045"/>
          </a:solidFill>
          <a:ln/>
        </p:spPr>
      </p:sp>
      <p:sp>
        <p:nvSpPr>
          <p:cNvPr id="16" name="Text 14"/>
          <p:cNvSpPr/>
          <p:nvPr/>
        </p:nvSpPr>
        <p:spPr>
          <a:xfrm>
            <a:off x="603504" y="3255264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score shown at all booking touchpoints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38912" y="3968496"/>
            <a:ext cx="82296" cy="82296"/>
          </a:xfrm>
          <a:prstGeom prst="ellipse">
            <a:avLst/>
          </a:prstGeom>
          <a:solidFill>
            <a:srgbClr val="D64045"/>
          </a:solidFill>
          <a:ln/>
        </p:spPr>
      </p:sp>
      <p:sp>
        <p:nvSpPr>
          <p:cNvPr id="18" name="Text 16"/>
          <p:cNvSpPr/>
          <p:nvPr/>
        </p:nvSpPr>
        <p:spPr>
          <a:xfrm>
            <a:off x="603504" y="3913632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Rail-first mandate for EU corridors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4791456"/>
            <a:ext cx="3749040" cy="457200"/>
          </a:xfrm>
          <a:prstGeom prst="rect">
            <a:avLst/>
          </a:prstGeom>
          <a:solidFill>
            <a:srgbClr val="D64045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48463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47.9M kg/yr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251960" y="1298448"/>
            <a:ext cx="3749040" cy="5029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2" name="Text 20"/>
          <p:cNvSpPr/>
          <p:nvPr/>
        </p:nvSpPr>
        <p:spPr>
          <a:xfrm>
            <a:off x="4343400" y="1316736"/>
            <a:ext cx="822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166360" y="138988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OPTIMIZE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01000" y="1545336"/>
            <a:ext cx="228600" cy="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51960" y="1828800"/>
            <a:ext cx="3749040" cy="292608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16552" y="1993392"/>
            <a:ext cx="82296" cy="82296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7" name="Text 25"/>
          <p:cNvSpPr/>
          <p:nvPr/>
        </p:nvSpPr>
        <p:spPr>
          <a:xfrm>
            <a:off x="4581144" y="193852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rental fleet standard in EU + NA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16552" y="2651760"/>
            <a:ext cx="82296" cy="82296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9" name="Text 27"/>
          <p:cNvSpPr/>
          <p:nvPr/>
        </p:nvSpPr>
        <p:spPr>
          <a:xfrm>
            <a:off x="4581144" y="259689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Video-first policy for internal meetings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416552" y="3310128"/>
            <a:ext cx="82296" cy="82296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31" name="Text 29"/>
          <p:cNvSpPr/>
          <p:nvPr/>
        </p:nvSpPr>
        <p:spPr>
          <a:xfrm>
            <a:off x="4581144" y="3255264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carbon SLA in contract negotiations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416552" y="3968496"/>
            <a:ext cx="82296" cy="82296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33" name="Text 31"/>
          <p:cNvSpPr/>
          <p:nvPr/>
        </p:nvSpPr>
        <p:spPr>
          <a:xfrm>
            <a:off x="4581144" y="3913632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BU dashboards tracking carbon budget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251960" y="4791456"/>
            <a:ext cx="3749040" cy="4572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5" name="Text 33"/>
          <p:cNvSpPr/>
          <p:nvPr/>
        </p:nvSpPr>
        <p:spPr>
          <a:xfrm>
            <a:off x="4343400" y="48463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+22M kg/yr additional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29600" y="1298448"/>
            <a:ext cx="3749040" cy="502920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37" name="Text 35"/>
          <p:cNvSpPr/>
          <p:nvPr/>
        </p:nvSpPr>
        <p:spPr>
          <a:xfrm>
            <a:off x="8321039" y="1316736"/>
            <a:ext cx="108421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2028+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9144000" y="138988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ZERO TARGET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229600" y="1828800"/>
            <a:ext cx="3749040" cy="2926080"/>
          </a:xfrm>
          <a:prstGeom prst="rect">
            <a:avLst/>
          </a:prstGeom>
          <a:solidFill>
            <a:srgbClr val="F2FAF6"/>
          </a:solidFill>
          <a:ln w="12700">
            <a:solidFill>
              <a:srgbClr val="D4ED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394192" y="1993392"/>
            <a:ext cx="82296" cy="82296"/>
          </a:xfrm>
          <a:prstGeom prst="ellipse">
            <a:avLst/>
          </a:prstGeom>
          <a:solidFill>
            <a:srgbClr val="0F5C3A"/>
          </a:solidFill>
          <a:ln/>
        </p:spPr>
      </p:sp>
      <p:sp>
        <p:nvSpPr>
          <p:cNvPr id="41" name="Text 39"/>
          <p:cNvSpPr/>
          <p:nvPr/>
        </p:nvSpPr>
        <p:spPr>
          <a:xfrm>
            <a:off x="8558784" y="1938528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offsetting for unavoidable APAC long-haul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394192" y="2651760"/>
            <a:ext cx="82296" cy="82296"/>
          </a:xfrm>
          <a:prstGeom prst="ellipse">
            <a:avLst/>
          </a:prstGeom>
          <a:solidFill>
            <a:srgbClr val="0F5C3A"/>
          </a:solidFill>
          <a:ln/>
        </p:spPr>
      </p:sp>
      <p:sp>
        <p:nvSpPr>
          <p:cNvPr id="43" name="Text 41"/>
          <p:cNvSpPr/>
          <p:nvPr/>
        </p:nvSpPr>
        <p:spPr>
          <a:xfrm>
            <a:off x="8558784" y="259689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route optimizer suggests greenest itinerary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394192" y="3310128"/>
            <a:ext cx="82296" cy="82296"/>
          </a:xfrm>
          <a:prstGeom prst="ellipse">
            <a:avLst/>
          </a:prstGeom>
          <a:solidFill>
            <a:srgbClr val="0F5C3A"/>
          </a:solidFill>
          <a:ln/>
        </p:spPr>
      </p:sp>
      <p:sp>
        <p:nvSpPr>
          <p:cNvPr id="45" name="Text 43"/>
          <p:cNvSpPr/>
          <p:nvPr/>
        </p:nvSpPr>
        <p:spPr>
          <a:xfrm>
            <a:off x="8558784" y="3255264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BU carbon budget allocated &amp; enforced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394192" y="3968496"/>
            <a:ext cx="82296" cy="82296"/>
          </a:xfrm>
          <a:prstGeom prst="ellipse">
            <a:avLst/>
          </a:prstGeom>
          <a:solidFill>
            <a:srgbClr val="0F5C3A"/>
          </a:solidFill>
          <a:ln/>
        </p:spPr>
      </p:sp>
      <p:sp>
        <p:nvSpPr>
          <p:cNvPr id="47" name="Text 45"/>
          <p:cNvSpPr/>
          <p:nvPr/>
        </p:nvSpPr>
        <p:spPr>
          <a:xfrm>
            <a:off x="8558784" y="3913632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GHG Protocol reporting &amp; audit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229600" y="4791456"/>
            <a:ext cx="3749040" cy="457200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49" name="Text 47"/>
          <p:cNvSpPr/>
          <p:nvPr/>
        </p:nvSpPr>
        <p:spPr>
          <a:xfrm>
            <a:off x="8321040" y="48463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Net Zero trajectory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274320" y="54406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Cumulative CO₂e Reduction (M kg)</a:t>
            </a:r>
            <a:endParaRPr lang="en-US" sz="1000" dirty="0"/>
          </a:p>
        </p:txBody>
      </p:sp>
      <p:graphicFrame>
        <p:nvGraphicFramePr>
          <p:cNvPr id="51" name="Chart 0"/>
          <p:cNvGraphicFramePr/>
          <p:nvPr/>
        </p:nvGraphicFramePr>
        <p:xfrm>
          <a:off x="274320" y="5742432"/>
          <a:ext cx="5029200" cy="914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2" name="Shape 49"/>
          <p:cNvSpPr/>
          <p:nvPr/>
        </p:nvSpPr>
        <p:spPr>
          <a:xfrm>
            <a:off x="5486400" y="5394960"/>
            <a:ext cx="6400800" cy="1234440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53" name="Text 50"/>
          <p:cNvSpPr/>
          <p:nvPr/>
        </p:nvSpPr>
        <p:spPr>
          <a:xfrm>
            <a:off x="5669280" y="5440680"/>
            <a:ext cx="6035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3-Year CO₂ Reduction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155.9M kg saved by 2028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87% of current annual footprint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B: High-Carbon Trip Prediction Model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1005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classifier to predict high-carbon trips before booking — enabling pre-emptive intervention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129844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664208"/>
            <a:ext cx="5029200" cy="420624"/>
          </a:xfrm>
          <a:prstGeom prst="rect">
            <a:avLst/>
          </a:prstGeom>
          <a:solidFill>
            <a:srgbClr val="F2F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719072"/>
            <a:ext cx="1645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920240" y="1719072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Ensemble: XGBoost + LightGBM + RandomForest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2139696"/>
            <a:ext cx="50292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194560"/>
            <a:ext cx="1645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920240" y="2194560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65,289 trips (public dataset)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2615184"/>
            <a:ext cx="5029200" cy="420624"/>
          </a:xfrm>
          <a:prstGeom prst="rect">
            <a:avLst/>
          </a:prstGeom>
          <a:solidFill>
            <a:srgbClr val="F2F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70048"/>
            <a:ext cx="1645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Balance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920240" y="2670048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 Low-Carbon / 25% High-Carbon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3090672"/>
            <a:ext cx="50292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145536"/>
            <a:ext cx="1645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920240" y="3145536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Stratified Cross-Validation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3566160"/>
            <a:ext cx="5029200" cy="420624"/>
          </a:xfrm>
          <a:prstGeom prst="rect">
            <a:avLst/>
          </a:prstGeom>
          <a:solidFill>
            <a:srgbClr val="F2F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621024"/>
            <a:ext cx="1645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920240" y="3621024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(Primary) + F1 Score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4041648"/>
            <a:ext cx="50292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645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920240" y="4096512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OOF-tuned for optimal F1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4517136"/>
            <a:ext cx="5029200" cy="420624"/>
          </a:xfrm>
          <a:prstGeom prst="rect">
            <a:avLst/>
          </a:prstGeom>
          <a:solidFill>
            <a:srgbClr val="F2F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4572000"/>
            <a:ext cx="1645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Prohibited Feats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920240" y="4572000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CO₂e columns excluded (per guidelines)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77840" y="129844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577840" y="1664208"/>
            <a:ext cx="6492240" cy="457200"/>
          </a:xfrm>
          <a:prstGeom prst="rect">
            <a:avLst/>
          </a:prstGeom>
          <a:solidFill>
            <a:srgbClr val="F2F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0" y="171907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Flags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589520" y="1719072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Is_Business_Class, Is_First_Class, Is_Flight, Is_Train, Is_EV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577840" y="2167128"/>
            <a:ext cx="64922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0" y="222199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Signals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7589520" y="2221992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OutOfPolicy_binary, Is_PreApproved, Mode_Changed (event log)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577840" y="2670048"/>
            <a:ext cx="6492240" cy="457200"/>
          </a:xfrm>
          <a:prstGeom prst="rect">
            <a:avLst/>
          </a:prstGeom>
          <a:solidFill>
            <a:srgbClr val="F2F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69280" y="272491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Features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7589520" y="2724912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Same_Region, Same_Country, Hotel_Nights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577840" y="3172968"/>
            <a:ext cx="64922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69280" y="322783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7589520" y="3227832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BU_encoded, Purpose_encoded, EntityCode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577840" y="3675888"/>
            <a:ext cx="6492240" cy="457200"/>
          </a:xfrm>
          <a:prstGeom prst="rect">
            <a:avLst/>
          </a:prstGeom>
          <a:solidFill>
            <a:srgbClr val="F2F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69280" y="373075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Events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7589520" y="3730752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Trip_Extension_flag, Change_Event_count, Disruption_flag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577840" y="4178808"/>
            <a:ext cx="64922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69280" y="423367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Features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7589520" y="4233672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53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NetCosts, Cost_per_Night, Relative_cost_BU_avg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74320" y="512064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HIGH-CARBON RATE BY TRANSPORT MODE</a:t>
            </a:r>
            <a:endParaRPr lang="en-US" sz="950" dirty="0"/>
          </a:p>
        </p:txBody>
      </p:sp>
      <p:graphicFrame>
        <p:nvGraphicFramePr>
          <p:cNvPr id="48" name="Chart 0"/>
          <p:cNvGraphicFramePr/>
          <p:nvPr/>
        </p:nvGraphicFramePr>
        <p:xfrm>
          <a:off x="274320" y="5413248"/>
          <a:ext cx="5029200" cy="1234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9" name="Shape 46"/>
          <p:cNvSpPr/>
          <p:nvPr/>
        </p:nvSpPr>
        <p:spPr>
          <a:xfrm>
            <a:off x="5577840" y="5074920"/>
            <a:ext cx="6492240" cy="1554480"/>
          </a:xfrm>
          <a:prstGeom prst="rect">
            <a:avLst/>
          </a:prstGeom>
          <a:solidFill>
            <a:srgbClr val="0D1F1A"/>
          </a:solidFill>
          <a:ln/>
        </p:spPr>
      </p:sp>
      <p:sp>
        <p:nvSpPr>
          <p:cNvPr id="50" name="Text 47"/>
          <p:cNvSpPr/>
          <p:nvPr/>
        </p:nvSpPr>
        <p:spPr>
          <a:xfrm>
            <a:off x="5760720" y="516636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RESULT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5760720" y="5468112"/>
            <a:ext cx="6126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8E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ShippingTypeDescription is the #1 predictor of HighCarbon classification. First Class (63%) and Business Class (56%) have near-certain high-carbon outcomes. Training without CO₂e columns, the model learns from transport mode, policy compliance, BU context, and process event signals.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Celonis Dashboard — Live Demo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1005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mandatory views: Emissions Overview · Benchmarking · Emissions Drilldown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298448"/>
            <a:ext cx="3749040" cy="5285232"/>
          </a:xfrm>
          <a:prstGeom prst="rect">
            <a:avLst/>
          </a:prstGeom>
          <a:solidFill>
            <a:srgbClr val="E8F5EE"/>
          </a:solidFill>
          <a:ln w="19050">
            <a:solidFill>
              <a:srgbClr val="D4ED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298448"/>
            <a:ext cx="3749040" cy="411480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335024"/>
            <a:ext cx="35661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1: Emissions Overview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3383280" cy="594360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87452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0F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Screenshot: Total CO₂e KPI cards, trip volume, high-carbon rate, cost vs emissions scatter ]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251960" y="1298448"/>
            <a:ext cx="3749040" cy="5285232"/>
          </a:xfrm>
          <a:prstGeom prst="rect">
            <a:avLst/>
          </a:prstGeom>
          <a:solidFill>
            <a:srgbClr val="E8F5EE"/>
          </a:solidFill>
          <a:ln w="19050">
            <a:solidFill>
              <a:srgbClr val="D4ED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251960" y="1298448"/>
            <a:ext cx="3749040" cy="41148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2" name="Text 20"/>
          <p:cNvSpPr/>
          <p:nvPr/>
        </p:nvSpPr>
        <p:spPr>
          <a:xfrm>
            <a:off x="4343400" y="1335024"/>
            <a:ext cx="35661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2: Benchmarking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434840" y="1828800"/>
            <a:ext cx="3383280" cy="594360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24" name="Text 22"/>
          <p:cNvSpPr/>
          <p:nvPr/>
        </p:nvSpPr>
        <p:spPr>
          <a:xfrm>
            <a:off x="4434840" y="187452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Screenshot: Regional comparison bar charts, APAC vs EU vs NA vs LATAM, OOP rate heatmap ]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8229600" y="1298448"/>
            <a:ext cx="3749040" cy="5285232"/>
          </a:xfrm>
          <a:prstGeom prst="rect">
            <a:avLst/>
          </a:prstGeom>
          <a:solidFill>
            <a:srgbClr val="E8F5EE"/>
          </a:solidFill>
          <a:ln w="19050">
            <a:solidFill>
              <a:srgbClr val="D4ED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0" y="1298448"/>
            <a:ext cx="3749040" cy="411480"/>
          </a:xfrm>
          <a:prstGeom prst="rect">
            <a:avLst/>
          </a:prstGeom>
          <a:solidFill>
            <a:srgbClr val="D64045"/>
          </a:solidFill>
          <a:ln/>
        </p:spPr>
      </p:sp>
      <p:sp>
        <p:nvSpPr>
          <p:cNvPr id="36" name="Text 34"/>
          <p:cNvSpPr/>
          <p:nvPr/>
        </p:nvSpPr>
        <p:spPr>
          <a:xfrm>
            <a:off x="8321040" y="1335024"/>
            <a:ext cx="356616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3: Emissions Drilldown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412480" y="1828800"/>
            <a:ext cx="3383280" cy="594360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38" name="Text 36"/>
          <p:cNvSpPr/>
          <p:nvPr/>
        </p:nvSpPr>
        <p:spPr>
          <a:xfrm>
            <a:off x="8412480" y="187452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Screenshot: BU × Purpose matrix, transport mode breakdown, process variant analysis, flight class comparison ]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74320" y="6419088"/>
            <a:ext cx="11612880" cy="256032"/>
          </a:xfrm>
          <a:prstGeom prst="rect">
            <a:avLst/>
          </a:prstGeom>
          <a:solidFill>
            <a:srgbClr val="0F5C3A"/>
          </a:solidFill>
          <a:ln/>
        </p:spPr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770E4D65-DAF4-B79B-798F-E15776F71C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492"/>
          <a:stretch>
            <a:fillRect/>
          </a:stretch>
        </p:blipFill>
        <p:spPr>
          <a:xfrm>
            <a:off x="4399807" y="2679262"/>
            <a:ext cx="3453345" cy="1984107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901F5FC8-0FD7-686E-94F0-EA1F223ACCD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942"/>
          <a:stretch>
            <a:fillRect/>
          </a:stretch>
        </p:blipFill>
        <p:spPr>
          <a:xfrm>
            <a:off x="8422776" y="2678139"/>
            <a:ext cx="3405574" cy="198523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C1C13CF2-585D-3994-5ECF-08C3C7EA747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0812"/>
          <a:stretch>
            <a:fillRect/>
          </a:stretch>
        </p:blipFill>
        <p:spPr>
          <a:xfrm>
            <a:off x="413570" y="2679262"/>
            <a:ext cx="3444896" cy="198410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F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EC47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at a Glance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GreenTravel Intelligence Challenge · Vaibhav Soni · Summer Analytics 2026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2743200" cy="1508760"/>
          </a:xfrm>
          <a:prstGeom prst="rect">
            <a:avLst/>
          </a:prstGeom>
          <a:solidFill>
            <a:srgbClr val="0F5C3A"/>
          </a:solidFill>
          <a:ln w="19050">
            <a:solidFill>
              <a:srgbClr val="D640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41732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640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178M kg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2084832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Annual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CO₂e Footprint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83280" y="1325880"/>
            <a:ext cx="2743200" cy="1508760"/>
          </a:xfrm>
          <a:prstGeom prst="rect">
            <a:avLst/>
          </a:prstGeom>
          <a:solidFill>
            <a:srgbClr val="0F5C3A"/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41732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52M kg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474720" y="2084832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Year-1 Reducible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(Policy Changes)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1325880"/>
            <a:ext cx="2743200" cy="1508760"/>
          </a:xfrm>
          <a:prstGeom prst="rect">
            <a:avLst/>
          </a:prstGeom>
          <a:solidFill>
            <a:srgbClr val="0F5C3A"/>
          </a:solidFill>
          <a:ln w="19050">
            <a:solidFill>
              <a:srgbClr val="1A8A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41732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8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156M kg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400800" y="2084832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Total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Potential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235440" y="1325880"/>
            <a:ext cx="2743200" cy="1508760"/>
          </a:xfrm>
          <a:prstGeom prst="rect">
            <a:avLst/>
          </a:prstGeom>
          <a:solidFill>
            <a:srgbClr val="0F5C3A"/>
          </a:solidFill>
          <a:ln w="19050">
            <a:solidFill>
              <a:srgbClr val="2EC4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0" y="141732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326880" y="2084832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Footprint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Addressable by 2028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303580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ALL 5 KEY BUSINESS QUESTIONS ADDRESSED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456432"/>
            <a:ext cx="91440" cy="91440"/>
          </a:xfrm>
          <a:prstGeom prst="ellipse">
            <a:avLst/>
          </a:prstGeom>
          <a:solidFill>
            <a:srgbClr val="2EC47A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41071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Emissions Profile: 178M kg CO₂e across 65,289 trips — flights are 83.9% of total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931920"/>
            <a:ext cx="91440" cy="91440"/>
          </a:xfrm>
          <a:prstGeom prst="ellipse">
            <a:avLst/>
          </a:prstGeom>
          <a:solidFill>
            <a:srgbClr val="2EC47A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886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Benchmarking: APAC = 65.8%, Europe = 0% high-carbon thanks to rail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91440" cy="91440"/>
          </a:xfrm>
          <a:prstGeom prst="ellipse">
            <a:avLst/>
          </a:prstGeom>
          <a:solidFill>
            <a:srgbClr val="2EC47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4361688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Hotspot Identification: Sales BU + Business Class flights + Customer Visits = core problem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4882896"/>
            <a:ext cx="91440" cy="91440"/>
          </a:xfrm>
          <a:prstGeom prst="ellipse">
            <a:avLst/>
          </a:prstGeom>
          <a:solidFill>
            <a:srgbClr val="2EC47A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837176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Points: 18.4% OOP, 17.9% trips modified, 47% of BC flights are non-compliant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5358384"/>
            <a:ext cx="91440" cy="91440"/>
          </a:xfrm>
          <a:prstGeom prst="ellipse">
            <a:avLst/>
          </a:prstGeom>
          <a:solidFill>
            <a:srgbClr val="2EC47A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312664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Recommendations: Economy-first policy + AI gate + rail mandate = 52M kg/yr saved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57200" y="5833872"/>
            <a:ext cx="11247120" cy="749808"/>
          </a:xfrm>
          <a:prstGeom prst="rect">
            <a:avLst/>
          </a:prstGeom>
          <a:solidFill>
            <a:srgbClr val="0F5C3A"/>
          </a:solidFill>
          <a:ln/>
        </p:spPr>
      </p:sp>
      <p:sp>
        <p:nvSpPr>
          <p:cNvPr id="30" name="Text 28"/>
          <p:cNvSpPr/>
          <p:nvPr/>
        </p:nvSpPr>
        <p:spPr>
          <a:xfrm>
            <a:off x="594360" y="5870448"/>
            <a:ext cx="110642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E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BONUS: External Benchmark — IATA reports avg 295g CO₂/km for economy flights. Celonis' avg 2,554 kg economy trip implies ~8,640km avg flight distance, consistent with APAC-heavy travel pattern confirmed by data.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1713</Words>
  <Application>Microsoft Office PowerPoint</Application>
  <PresentationFormat>Widescreen</PresentationFormat>
  <Paragraphs>314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Shubham Soni</cp:lastModifiedBy>
  <cp:revision>8</cp:revision>
  <dcterms:created xsi:type="dcterms:W3CDTF">2026-07-14T10:54:40Z</dcterms:created>
  <dcterms:modified xsi:type="dcterms:W3CDTF">2026-07-15T17:44:25Z</dcterms:modified>
</cp:coreProperties>
</file>