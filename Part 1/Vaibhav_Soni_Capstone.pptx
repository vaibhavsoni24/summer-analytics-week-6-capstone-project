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  <p:sldMasterId id="214748368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font" Target="fonts/Poppins-regular.fntdata"/><Relationship Id="rId17" Type="http://schemas.openxmlformats.org/officeDocument/2006/relationships/font" Target="fonts/Poppins-bold.fntdata"/><Relationship Id="rId18" Type="http://schemas.openxmlformats.org/officeDocument/2006/relationships/font" Target="fonts/Poppins-italic.fntdata"/><Relationship Id="rId19" Type="http://schemas.openxmlformats.org/officeDocument/2006/relationships/font" Target="fonts/Poppins-boldItalic.fntdata"/><Relationship Id="rId20" Type="http://schemas.openxmlformats.org/officeDocument/2006/relationships/font" Target="fonts/PoppinsSemiBold-regular.fntdata"/><Relationship Id="rId21" Type="http://schemas.openxmlformats.org/officeDocument/2006/relationships/font" Target="fonts/PoppinsSemiBold-bold.fntdata"/><Relationship Id="rId22" Type="http://schemas.openxmlformats.org/officeDocument/2006/relationships/font" Target="fonts/PoppinsSemiBold-italic.fntdata"/><Relationship Id="rId23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3109ef6d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3109ef6d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109ef6d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3109ef6db_0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3109ef6db_0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109ef6d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3109ef6db_0_2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3109ef6db_0_2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3109ef6db_0_3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3109ef6db_0_3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66" name="Google Shape;6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slide black">
  <p:cSld name="Chapter slide blac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white">
  <p:cSld name="Only Title white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black">
  <p:cSld name="Only Title blac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slide white">
  <p:cSld name="Chapterslide white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ith graphic" showMasterSp="0">
  <p:cSld name="Titlepage with graphic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86" name="Google Shape;8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/>
          <p:nvPr>
            <p:ph idx="4" type="pic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hite" showMasterSp="0">
  <p:cSld name="Titlepage white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3" type="body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details" showMasterSp="0">
  <p:cSld name="Thank you with detail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Ein Bild, das Zeichnung enthält.&#10;&#10;Automatisch generierte Beschreibung" id="97" name="Google Shape;9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." showMasterSp="0">
  <p:cSld name="Thank you.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black">
  <p:cSld name="Only Title blac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slide black">
  <p:cSld name="Chapter slide blac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slide white">
  <p:cSld name="Chapterslide white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white">
  <p:cSld name="Only Title white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" showMasterSp="0">
  <p:cSld name="Titlepag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3" type="body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25" name="Google Shape;12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hite" showMasterSp="0">
  <p:cSld name="Titlepage white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3" type="body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31" name="Google Shape;1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page with graphic" showMasterSp="0">
  <p:cSld name="Titlepage with graphic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3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" type="body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2" type="body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3" type="body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Ein Bild, das Zeichnung enthält.&#10;&#10;Automatisch generierte Beschreibung" id="137" name="Google Shape;13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/>
          <p:nvPr>
            <p:ph idx="4" type="pic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details" showMasterSp="0">
  <p:cSld name="Thank you with detail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Ein Bild, das Zeichnung enthält.&#10;&#10;Automatisch generierte Beschreibung" id="142" name="Google Shape;14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." showMasterSp="0">
  <p:cSld name="Thank you.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305992" y="1337057"/>
            <a:ext cx="853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" sz="3800"/>
              <a:t>Sustainability</a:t>
            </a:r>
            <a:r>
              <a:rPr b="0" lang="en" sz="3800"/>
              <a:t> Capstone:</a:t>
            </a:r>
            <a:endParaRPr b="0"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lang="en" sz="3800"/>
              <a:t>Decarbonising Travel</a:t>
            </a:r>
            <a:endParaRPr b="0" sz="3800"/>
          </a:p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>
            <a:off x="305992" y="3706100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Speaker name: Vaibhav Soni\nInstitute: IIT Guwahati (or equivalent)\nBranch &amp; Year of Study: SA26\nEmail ID: vaibhavsoni280506@gmail.com</a:t>
            </a:r>
          </a:p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305991" y="2808542"/>
            <a:ext cx="426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Driving Sustainable Transformation in Business Travel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158" name="Google Shape;158;p35"/>
          <p:cNvSpPr txBox="1"/>
          <p:nvPr/>
        </p:nvSpPr>
        <p:spPr>
          <a:xfrm>
            <a:off x="315950" y="1069975"/>
            <a:ext cx="8521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Total Emissions: 178,090.1 Metric Tons CO2e\nTotal Travel Costs: $140,479,200.00\n\nTop 3 Insights:\n1. Top emitting BU: Sales (60,139.0 MT)\n2. Flight vs Train disparity: Flights avg 3,450.0kg, Trains 445.4kg.\n3. High Out-of-Policy bookings lead to higher average emissions.\n\nRecommendations:\n- Shift 10% of short-haul flights to rail (Saves 13,009.7 MT CO2e)\n- Introduce stricter approval for top-emitting BUs.\n- Gamify carbon budgets across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Emissions Profile and Benchmarking</a:t>
            </a:r>
            <a:endParaRPr/>
          </a:p>
        </p:txBody>
      </p:sp>
      <p:sp>
        <p:nvSpPr>
          <p:cNvPr id="164" name="Google Shape;164;p36"/>
          <p:cNvSpPr txBox="1"/>
          <p:nvPr/>
        </p:nvSpPr>
        <p:spPr>
          <a:xfrm>
            <a:off x="315950" y="1069975"/>
            <a:ext cx="85218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Celonis Current Profile:\n- Gross Footprint: 178,090.1 Metric Tons\n- Average per trip: 2,727.72 kg CO2e\n\nBenchmarking:\n- By Region: Top emitters are concentrated in key operational hubs.\n- Tech Industry standard: Our per-trip averages present an opportunity for a 15-20% reduction to meet the 2030 Net Zero trajectory.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Hotspot Analysis</a:t>
            </a:r>
            <a:endParaRPr/>
          </a:p>
        </p:txBody>
      </p:sp>
      <p:sp>
        <p:nvSpPr>
          <p:cNvPr id="170" name="Google Shape;170;p37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Hotspots Identified:\n\n1. Business Unit: Sales drives the highest emissions, accounting for a significant portion of the total footprint.\n2. Travel Mode: Economy Flight dominates the carbon output.\n3. Purpose: Customer-facing visits represent the bulk of unavoidable travel, but internal meetings present a massive opportunity for virtual substitution.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Inefficiencies Identified</a:t>
            </a:r>
            <a:endParaRPr/>
          </a:p>
        </p:txBody>
      </p:sp>
      <p:sp>
        <p:nvSpPr>
          <p:cNvPr id="176" name="Google Shape;176;p38"/>
          <p:cNvSpPr txBox="1"/>
          <p:nvPr/>
        </p:nvSpPr>
        <p:spPr>
          <a:xfrm>
            <a:off x="315950" y="1069975"/>
            <a:ext cx="8521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Inefficiencies &amp; Pain Points:\n\n1. Decentralized Booking: Leads to sub-optimal route choices.\n2. Out-of-Policy Exceptions: Trips flagged as out-of-policy systematically correlate with higher costs and higher emissions.\n3. Last-minute Bookings: Analyzing event logs reveals short turnaround times between booking and departure force reliance on high-carbon express flights.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Carbon Strategic Recommendations (Quantified)</a:t>
            </a:r>
            <a:endParaRPr/>
          </a:p>
        </p:txBody>
      </p:sp>
      <p:sp>
        <p:nvSpPr>
          <p:cNvPr id="182" name="Google Shape;182;p39"/>
          <p:cNvSpPr txBox="1"/>
          <p:nvPr/>
        </p:nvSpPr>
        <p:spPr>
          <a:xfrm>
            <a:off x="315950" y="1069975"/>
            <a:ext cx="85218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Low-Carbon Strategic Recommendations:\n\n1. The 10% Rail Shift:\n   - Action: Mandate train travel for all routes under 500km.\n   - Impact: Estimated saving of 13,009.7 Metric Tons CO2e annually.\n\n2. Carbon Budgets by BU:\n   - Action: Implement strict carbon allowances for Sales.\n   - Impact: Capping emissions could reduce overall footprint by 15%.\n\n3. Advanced Copilot Approvals:\n   - Action: Integrate Celonis AI to intercept high-carbon choices at the point of booking.\n   - Impact: Proactive avoidance of ~5% of unnecessary flights.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Integration Roadmap</a:t>
            </a:r>
            <a:endParaRPr/>
          </a:p>
        </p:txBody>
      </p:sp>
      <p:sp>
        <p:nvSpPr>
          <p:cNvPr id="188" name="Google Shape;188;p40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Strategic Integration Roadmap to Net Zero (2024-2030):\n\n- Year 1 (Visibility): Roll out carbon reporting dashboards globally.\n- Year 2 (Policy): Enforce hard caps on domestic flights and incentivize rail.\n- Year 3 (Automation): Deploy AI-driven approval workflows in Celonis to block high-emission variants.\n- Year 4-6 (Optimization): Scale carbon budgets down by 10% YoY, relying heavily on virtual collaboration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/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Screenshots (max 3 slides) - will be used to shortlist</a:t>
            </a:r>
            <a:endParaRPr/>
          </a:p>
        </p:txBody>
      </p:sp>
      <p:sp>
        <p:nvSpPr>
          <p:cNvPr id="194" name="Google Shape;194;p41"/>
          <p:cNvSpPr txBox="1"/>
          <p:nvPr/>
        </p:nvSpPr>
        <p:spPr>
          <a:xfrm>
            <a:off x="315950" y="1069975"/>
            <a:ext cx="8521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Celonis Dashboards Overview:\n1. Emissions Overview\n2. Benchmarking\n3. Emissions Drilldown</a:t>
            </a:r>
          </a:p>
        </p:txBody>
      </p:sp>
      <p:pic>
        <p:nvPicPr>
          <p:cNvPr id="195" name="Picture 194" descr="emissions_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3657600" cy="2194560"/>
          </a:xfrm>
          <a:prstGeom prst="rect">
            <a:avLst/>
          </a:prstGeom>
        </p:spPr>
      </p:pic>
      <p:pic>
        <p:nvPicPr>
          <p:cNvPr id="196" name="Picture 195" descr="emissions_by_b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